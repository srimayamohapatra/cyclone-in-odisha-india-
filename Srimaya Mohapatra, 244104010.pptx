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74" r:id="rId3"/>
    <p:sldId id="258" r:id="rId4"/>
    <p:sldId id="270" r:id="rId5"/>
    <p:sldId id="272" r:id="rId6"/>
    <p:sldId id="273" r:id="rId7"/>
    <p:sldId id="267" r:id="rId8"/>
    <p:sldId id="269" r:id="rId9"/>
    <p:sldId id="275" r:id="rId10"/>
    <p:sldId id="27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1" autoAdjust="0"/>
    <p:restoredTop sz="91571" autoAdjust="0"/>
  </p:normalViewPr>
  <p:slideViewPr>
    <p:cSldViewPr snapToGrid="0">
      <p:cViewPr varScale="1">
        <p:scale>
          <a:sx n="64" d="100"/>
          <a:sy n="64" d="100"/>
        </p:scale>
        <p:origin x="97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016708-9DB3-499D-8806-CF0C7F081897}"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28C2588F-C179-4D38-9C28-AA918137852E}">
      <dgm:prSet custT="1"/>
      <dgm:spPr/>
      <dgm:t>
        <a:bodyPr/>
        <a:lstStyle/>
        <a:p>
          <a:r>
            <a:rPr lang="en-US" sz="1800" b="1" dirty="0">
              <a:latin typeface="Times New Roman" panose="02020603050405020304" pitchFamily="18" charset="0"/>
              <a:cs typeface="Times New Roman" panose="02020603050405020304" pitchFamily="18" charset="0"/>
            </a:rPr>
            <a:t>Key concerns include:</a:t>
          </a:r>
          <a:endParaRPr lang="en-US" sz="2100" dirty="0">
            <a:latin typeface="Times New Roman" panose="02020603050405020304" pitchFamily="18" charset="0"/>
            <a:cs typeface="Times New Roman" panose="02020603050405020304" pitchFamily="18" charset="0"/>
          </a:endParaRPr>
        </a:p>
      </dgm:t>
    </dgm:pt>
    <dgm:pt modelId="{950D5847-2C6C-4523-9187-AB554B6C2616}" type="parTrans" cxnId="{A0FC87E3-C1CD-49E7-862B-41BE074BF2C9}">
      <dgm:prSet/>
      <dgm:spPr/>
      <dgm:t>
        <a:bodyPr/>
        <a:lstStyle/>
        <a:p>
          <a:endParaRPr lang="en-US"/>
        </a:p>
      </dgm:t>
    </dgm:pt>
    <dgm:pt modelId="{867A983B-3F3C-4AB5-8C40-7291796A86D0}" type="sibTrans" cxnId="{A0FC87E3-C1CD-49E7-862B-41BE074BF2C9}">
      <dgm:prSet/>
      <dgm:spPr/>
      <dgm:t>
        <a:bodyPr/>
        <a:lstStyle/>
        <a:p>
          <a:endParaRPr lang="en-US"/>
        </a:p>
      </dgm:t>
    </dgm:pt>
    <dgm:pt modelId="{DE74EAC4-026F-4BB1-B519-7AD494D37F52}">
      <dgm:prSet custT="1"/>
      <dgm:spPr/>
      <dgm:t>
        <a:bodyPr/>
        <a:lstStyle/>
        <a:p>
          <a:r>
            <a:rPr lang="en-US" sz="1800" dirty="0">
              <a:latin typeface="Times New Roman" panose="02020603050405020304" pitchFamily="18" charset="0"/>
              <a:cs typeface="Times New Roman" panose="02020603050405020304" pitchFamily="18" charset="0"/>
            </a:rPr>
            <a:t>High population density in coastal areas</a:t>
          </a:r>
        </a:p>
      </dgm:t>
    </dgm:pt>
    <dgm:pt modelId="{FFF6953F-66AC-4008-A488-48031DD033BF}" type="parTrans" cxnId="{1026EFEE-A016-476B-80D7-3E8134097AAC}">
      <dgm:prSet/>
      <dgm:spPr/>
      <dgm:t>
        <a:bodyPr/>
        <a:lstStyle/>
        <a:p>
          <a:endParaRPr lang="en-US"/>
        </a:p>
      </dgm:t>
    </dgm:pt>
    <dgm:pt modelId="{A1E7D4A0-E3CF-4678-87B9-80EB31D90760}" type="sibTrans" cxnId="{1026EFEE-A016-476B-80D7-3E8134097AAC}">
      <dgm:prSet/>
      <dgm:spPr/>
      <dgm:t>
        <a:bodyPr/>
        <a:lstStyle/>
        <a:p>
          <a:endParaRPr lang="en-US"/>
        </a:p>
      </dgm:t>
    </dgm:pt>
    <dgm:pt modelId="{0DD097E9-D255-4ED2-8AC3-CB7BAE4BB20B}">
      <dgm:prSet custT="1"/>
      <dgm:spPr/>
      <dgm:t>
        <a:bodyPr/>
        <a:lstStyle/>
        <a:p>
          <a:r>
            <a:rPr lang="en-US" sz="1800" dirty="0">
              <a:latin typeface="Times New Roman" panose="02020603050405020304" pitchFamily="18" charset="0"/>
              <a:cs typeface="Times New Roman" panose="02020603050405020304" pitchFamily="18" charset="0"/>
            </a:rPr>
            <a:t>Significant agricultural and infrastructural exposure</a:t>
          </a:r>
        </a:p>
      </dgm:t>
    </dgm:pt>
    <dgm:pt modelId="{DAFA84EB-94D5-4173-A0A5-56B12E321C67}" type="parTrans" cxnId="{FC95CCF4-23AA-4B7E-90C2-2F574D177D9E}">
      <dgm:prSet/>
      <dgm:spPr/>
      <dgm:t>
        <a:bodyPr/>
        <a:lstStyle/>
        <a:p>
          <a:endParaRPr lang="en-US"/>
        </a:p>
      </dgm:t>
    </dgm:pt>
    <dgm:pt modelId="{3E0F1125-8E8A-4A97-A65A-F80F6AB9910B}" type="sibTrans" cxnId="{FC95CCF4-23AA-4B7E-90C2-2F574D177D9E}">
      <dgm:prSet/>
      <dgm:spPr/>
      <dgm:t>
        <a:bodyPr/>
        <a:lstStyle/>
        <a:p>
          <a:endParaRPr lang="en-US"/>
        </a:p>
      </dgm:t>
    </dgm:pt>
    <dgm:pt modelId="{6B39910E-FC6F-4AE6-9576-F00F4FAADB02}">
      <dgm:prSet custT="1"/>
      <dgm:spPr/>
      <dgm:t>
        <a:bodyPr/>
        <a:lstStyle/>
        <a:p>
          <a:r>
            <a:rPr lang="en-US" sz="1800" dirty="0">
              <a:latin typeface="Times New Roman" panose="02020603050405020304" pitchFamily="18" charset="0"/>
              <a:cs typeface="Times New Roman" panose="02020603050405020304" pitchFamily="18" charset="0"/>
            </a:rPr>
            <a:t>Rising frequency and intensity of cyclones due to climate change</a:t>
          </a:r>
        </a:p>
      </dgm:t>
    </dgm:pt>
    <dgm:pt modelId="{043F0143-4318-48CE-B04E-4481DCE6019D}" type="parTrans" cxnId="{6C72CD42-D26F-4E30-9049-AFE56769FBCB}">
      <dgm:prSet/>
      <dgm:spPr/>
      <dgm:t>
        <a:bodyPr/>
        <a:lstStyle/>
        <a:p>
          <a:endParaRPr lang="en-US"/>
        </a:p>
      </dgm:t>
    </dgm:pt>
    <dgm:pt modelId="{FDCFCEBE-00C1-4181-8EE2-B9234FD4CA52}" type="sibTrans" cxnId="{6C72CD42-D26F-4E30-9049-AFE56769FBCB}">
      <dgm:prSet/>
      <dgm:spPr/>
      <dgm:t>
        <a:bodyPr/>
        <a:lstStyle/>
        <a:p>
          <a:endParaRPr lang="en-US"/>
        </a:p>
      </dgm:t>
    </dgm:pt>
    <dgm:pt modelId="{3E0A7EE5-B25A-427A-B9AF-E05E2A642621}">
      <dgm:prSet custT="1"/>
      <dgm:spPr/>
      <dgm:t>
        <a:bodyPr/>
        <a:lstStyle/>
        <a:p>
          <a:r>
            <a:rPr lang="en-US" sz="1800" b="1" dirty="0">
              <a:latin typeface="Times New Roman" panose="02020603050405020304" pitchFamily="18" charset="0"/>
              <a:cs typeface="Times New Roman" panose="02020603050405020304" pitchFamily="18" charset="0"/>
            </a:rPr>
            <a:t>Role of Data Analysis &amp; Visualization: </a:t>
          </a:r>
          <a:endParaRPr lang="en-US" sz="1800" dirty="0">
            <a:latin typeface="Times New Roman" panose="02020603050405020304" pitchFamily="18" charset="0"/>
            <a:cs typeface="Times New Roman" panose="02020603050405020304" pitchFamily="18" charset="0"/>
          </a:endParaRPr>
        </a:p>
      </dgm:t>
    </dgm:pt>
    <dgm:pt modelId="{38C3DF7C-0EAC-4929-ACD8-88F19644F6C5}" type="parTrans" cxnId="{2A66B72B-00EA-4213-99C2-A94C7836A3E1}">
      <dgm:prSet/>
      <dgm:spPr/>
      <dgm:t>
        <a:bodyPr/>
        <a:lstStyle/>
        <a:p>
          <a:endParaRPr lang="en-US"/>
        </a:p>
      </dgm:t>
    </dgm:pt>
    <dgm:pt modelId="{2CD41697-CAF8-42A9-BBD2-601E04A26D9C}" type="sibTrans" cxnId="{2A66B72B-00EA-4213-99C2-A94C7836A3E1}">
      <dgm:prSet/>
      <dgm:spPr/>
      <dgm:t>
        <a:bodyPr/>
        <a:lstStyle/>
        <a:p>
          <a:endParaRPr lang="en-US"/>
        </a:p>
      </dgm:t>
    </dgm:pt>
    <dgm:pt modelId="{D6A99260-C420-4270-9DF4-768AF658F409}">
      <dgm:prSet custT="1"/>
      <dgm:spPr/>
      <dgm:t>
        <a:bodyPr/>
        <a:lstStyle/>
        <a:p>
          <a:r>
            <a:rPr lang="en-US" sz="1800" dirty="0">
              <a:latin typeface="Times New Roman" panose="02020603050405020304" pitchFamily="18" charset="0"/>
              <a:cs typeface="Times New Roman" panose="02020603050405020304" pitchFamily="18" charset="0"/>
            </a:rPr>
            <a:t>Helps in Understanding cyclone patterns and trends  </a:t>
          </a:r>
        </a:p>
      </dgm:t>
    </dgm:pt>
    <dgm:pt modelId="{FB5831DD-4781-4D79-B633-0CE7BB9CB9BE}" type="parTrans" cxnId="{5C851C48-2DBF-41E0-8B72-381389BD8409}">
      <dgm:prSet/>
      <dgm:spPr/>
      <dgm:t>
        <a:bodyPr/>
        <a:lstStyle/>
        <a:p>
          <a:endParaRPr lang="en-US"/>
        </a:p>
      </dgm:t>
    </dgm:pt>
    <dgm:pt modelId="{8CAFE4B8-466B-4310-B3AC-129FF08FE458}" type="sibTrans" cxnId="{5C851C48-2DBF-41E0-8B72-381389BD8409}">
      <dgm:prSet/>
      <dgm:spPr/>
      <dgm:t>
        <a:bodyPr/>
        <a:lstStyle/>
        <a:p>
          <a:endParaRPr lang="en-US"/>
        </a:p>
      </dgm:t>
    </dgm:pt>
    <dgm:pt modelId="{0BE6E256-1E05-4DCA-9D36-0D87E8012733}">
      <dgm:prSet/>
      <dgm:spPr/>
      <dgm:t>
        <a:bodyPr/>
        <a:lstStyle/>
        <a:p>
          <a:r>
            <a:rPr lang="en-US" dirty="0">
              <a:latin typeface="Times New Roman" panose="02020603050405020304" pitchFamily="18" charset="0"/>
              <a:cs typeface="Times New Roman" panose="02020603050405020304" pitchFamily="18" charset="0"/>
            </a:rPr>
            <a:t>Enhancing early warning systems</a:t>
          </a:r>
        </a:p>
      </dgm:t>
    </dgm:pt>
    <dgm:pt modelId="{A7325F8D-6EB1-4817-A952-8B485FCF4EAE}" type="parTrans" cxnId="{C3E93237-15DF-40E4-BFD2-1DE7DD2C7456}">
      <dgm:prSet/>
      <dgm:spPr/>
      <dgm:t>
        <a:bodyPr/>
        <a:lstStyle/>
        <a:p>
          <a:endParaRPr lang="en-US"/>
        </a:p>
      </dgm:t>
    </dgm:pt>
    <dgm:pt modelId="{B1D34CC4-3D09-455C-966D-6CA67EB2AD0A}" type="sibTrans" cxnId="{C3E93237-15DF-40E4-BFD2-1DE7DD2C7456}">
      <dgm:prSet/>
      <dgm:spPr/>
      <dgm:t>
        <a:bodyPr/>
        <a:lstStyle/>
        <a:p>
          <a:endParaRPr lang="en-US"/>
        </a:p>
      </dgm:t>
    </dgm:pt>
    <dgm:pt modelId="{2928F745-4536-413E-B6F1-F472F99CCAFD}">
      <dgm:prSet/>
      <dgm:spPr/>
      <dgm:t>
        <a:bodyPr/>
        <a:lstStyle/>
        <a:p>
          <a:r>
            <a:rPr lang="en-US" dirty="0">
              <a:latin typeface="Times New Roman" panose="02020603050405020304" pitchFamily="18" charset="0"/>
              <a:cs typeface="Times New Roman" panose="02020603050405020304" pitchFamily="18" charset="0"/>
            </a:rPr>
            <a:t>Supporting disaster preparedness and mitigation</a:t>
          </a:r>
        </a:p>
      </dgm:t>
    </dgm:pt>
    <dgm:pt modelId="{B5A752A7-9E88-4285-B14C-2A9EA4DFF50A}" type="parTrans" cxnId="{9C7BB2B9-B1C4-414D-B1CD-9105DBD48CD9}">
      <dgm:prSet/>
      <dgm:spPr/>
      <dgm:t>
        <a:bodyPr/>
        <a:lstStyle/>
        <a:p>
          <a:endParaRPr lang="en-US"/>
        </a:p>
      </dgm:t>
    </dgm:pt>
    <dgm:pt modelId="{EBF59355-12B9-4E30-99BE-B071B61BD9AA}" type="sibTrans" cxnId="{9C7BB2B9-B1C4-414D-B1CD-9105DBD48CD9}">
      <dgm:prSet/>
      <dgm:spPr/>
      <dgm:t>
        <a:bodyPr/>
        <a:lstStyle/>
        <a:p>
          <a:endParaRPr lang="en-US"/>
        </a:p>
      </dgm:t>
    </dgm:pt>
    <dgm:pt modelId="{E53F0709-B694-4778-8332-444E1B9CBAB1}" type="pres">
      <dgm:prSet presAssocID="{15016708-9DB3-499D-8806-CF0C7F081897}" presName="vert0" presStyleCnt="0">
        <dgm:presLayoutVars>
          <dgm:dir/>
          <dgm:animOne val="branch"/>
          <dgm:animLvl val="lvl"/>
        </dgm:presLayoutVars>
      </dgm:prSet>
      <dgm:spPr/>
    </dgm:pt>
    <dgm:pt modelId="{C96DA1D1-AE32-4547-8FD5-06622A20952F}" type="pres">
      <dgm:prSet presAssocID="{28C2588F-C179-4D38-9C28-AA918137852E}" presName="thickLine" presStyleLbl="alignNode1" presStyleIdx="0" presStyleCnt="2"/>
      <dgm:spPr/>
    </dgm:pt>
    <dgm:pt modelId="{A1A5A6B6-6558-4C4F-8BD7-92F405173D31}" type="pres">
      <dgm:prSet presAssocID="{28C2588F-C179-4D38-9C28-AA918137852E}" presName="horz1" presStyleCnt="0"/>
      <dgm:spPr/>
    </dgm:pt>
    <dgm:pt modelId="{30B972E5-33A9-4DC1-9653-D03A58EDA3F4}" type="pres">
      <dgm:prSet presAssocID="{28C2588F-C179-4D38-9C28-AA918137852E}" presName="tx1" presStyleLbl="revTx" presStyleIdx="0" presStyleCnt="8" custScaleX="143819"/>
      <dgm:spPr/>
    </dgm:pt>
    <dgm:pt modelId="{94683DC7-54A8-4B11-9DC1-9E684C5F68C2}" type="pres">
      <dgm:prSet presAssocID="{28C2588F-C179-4D38-9C28-AA918137852E}" presName="vert1" presStyleCnt="0"/>
      <dgm:spPr/>
    </dgm:pt>
    <dgm:pt modelId="{61875078-2BAA-4C6B-A8A7-404CDA17EE24}" type="pres">
      <dgm:prSet presAssocID="{DE74EAC4-026F-4BB1-B519-7AD494D37F52}" presName="vertSpace2a" presStyleCnt="0"/>
      <dgm:spPr/>
    </dgm:pt>
    <dgm:pt modelId="{09C4ECEE-9E5D-4072-9F42-2C9028433AE1}" type="pres">
      <dgm:prSet presAssocID="{DE74EAC4-026F-4BB1-B519-7AD494D37F52}" presName="horz2" presStyleCnt="0"/>
      <dgm:spPr/>
    </dgm:pt>
    <dgm:pt modelId="{877DDD59-B9BD-41E5-9DBA-DE079E0F993C}" type="pres">
      <dgm:prSet presAssocID="{DE74EAC4-026F-4BB1-B519-7AD494D37F52}" presName="horzSpace2" presStyleCnt="0"/>
      <dgm:spPr/>
    </dgm:pt>
    <dgm:pt modelId="{B5665A82-3504-4671-9288-E9E4B43E0D44}" type="pres">
      <dgm:prSet presAssocID="{DE74EAC4-026F-4BB1-B519-7AD494D37F52}" presName="tx2" presStyleLbl="revTx" presStyleIdx="1" presStyleCnt="8"/>
      <dgm:spPr/>
    </dgm:pt>
    <dgm:pt modelId="{123C047A-8949-49D2-94F2-4C99D3F0E9F3}" type="pres">
      <dgm:prSet presAssocID="{DE74EAC4-026F-4BB1-B519-7AD494D37F52}" presName="vert2" presStyleCnt="0"/>
      <dgm:spPr/>
    </dgm:pt>
    <dgm:pt modelId="{18DA5EF8-8B81-49B1-9F6A-29D77D537DCB}" type="pres">
      <dgm:prSet presAssocID="{DE74EAC4-026F-4BB1-B519-7AD494D37F52}" presName="thinLine2b" presStyleLbl="callout" presStyleIdx="0" presStyleCnt="6"/>
      <dgm:spPr/>
    </dgm:pt>
    <dgm:pt modelId="{43610201-8944-4816-84EF-10A16B7E0DA8}" type="pres">
      <dgm:prSet presAssocID="{DE74EAC4-026F-4BB1-B519-7AD494D37F52}" presName="vertSpace2b" presStyleCnt="0"/>
      <dgm:spPr/>
    </dgm:pt>
    <dgm:pt modelId="{ADF4C5E8-BAFB-4868-908B-B7A3F0AAA462}" type="pres">
      <dgm:prSet presAssocID="{0DD097E9-D255-4ED2-8AC3-CB7BAE4BB20B}" presName="horz2" presStyleCnt="0"/>
      <dgm:spPr/>
    </dgm:pt>
    <dgm:pt modelId="{6E9A2DCB-BF2D-4813-AA7D-71B875D3542E}" type="pres">
      <dgm:prSet presAssocID="{0DD097E9-D255-4ED2-8AC3-CB7BAE4BB20B}" presName="horzSpace2" presStyleCnt="0"/>
      <dgm:spPr/>
    </dgm:pt>
    <dgm:pt modelId="{A6EE4CCC-DBCF-461E-B46E-DE2C6BD5471A}" type="pres">
      <dgm:prSet presAssocID="{0DD097E9-D255-4ED2-8AC3-CB7BAE4BB20B}" presName="tx2" presStyleLbl="revTx" presStyleIdx="2" presStyleCnt="8"/>
      <dgm:spPr/>
    </dgm:pt>
    <dgm:pt modelId="{9CF88364-DA26-4BF3-8D21-5584BA9DE8A4}" type="pres">
      <dgm:prSet presAssocID="{0DD097E9-D255-4ED2-8AC3-CB7BAE4BB20B}" presName="vert2" presStyleCnt="0"/>
      <dgm:spPr/>
    </dgm:pt>
    <dgm:pt modelId="{5CD435FF-0600-4884-A3D9-4AA16E90D2D8}" type="pres">
      <dgm:prSet presAssocID="{0DD097E9-D255-4ED2-8AC3-CB7BAE4BB20B}" presName="thinLine2b" presStyleLbl="callout" presStyleIdx="1" presStyleCnt="6"/>
      <dgm:spPr/>
    </dgm:pt>
    <dgm:pt modelId="{C78E822B-82D6-4861-98AA-D44A112F8A73}" type="pres">
      <dgm:prSet presAssocID="{0DD097E9-D255-4ED2-8AC3-CB7BAE4BB20B}" presName="vertSpace2b" presStyleCnt="0"/>
      <dgm:spPr/>
    </dgm:pt>
    <dgm:pt modelId="{572F940C-CF4D-4341-8BAD-7D16B4A7A6AB}" type="pres">
      <dgm:prSet presAssocID="{6B39910E-FC6F-4AE6-9576-F00F4FAADB02}" presName="horz2" presStyleCnt="0"/>
      <dgm:spPr/>
    </dgm:pt>
    <dgm:pt modelId="{D86FE7EA-CB17-4D3D-BC16-5520D34B189D}" type="pres">
      <dgm:prSet presAssocID="{6B39910E-FC6F-4AE6-9576-F00F4FAADB02}" presName="horzSpace2" presStyleCnt="0"/>
      <dgm:spPr/>
    </dgm:pt>
    <dgm:pt modelId="{E76030F1-6AA1-4A12-AD2E-F1309838A919}" type="pres">
      <dgm:prSet presAssocID="{6B39910E-FC6F-4AE6-9576-F00F4FAADB02}" presName="tx2" presStyleLbl="revTx" presStyleIdx="3" presStyleCnt="8"/>
      <dgm:spPr/>
    </dgm:pt>
    <dgm:pt modelId="{B145F29D-B0F8-4E8B-9CC4-56F5C64E6B59}" type="pres">
      <dgm:prSet presAssocID="{6B39910E-FC6F-4AE6-9576-F00F4FAADB02}" presName="vert2" presStyleCnt="0"/>
      <dgm:spPr/>
    </dgm:pt>
    <dgm:pt modelId="{8ABC26A6-2DD4-499F-85C6-27ACC1493327}" type="pres">
      <dgm:prSet presAssocID="{6B39910E-FC6F-4AE6-9576-F00F4FAADB02}" presName="thinLine2b" presStyleLbl="callout" presStyleIdx="2" presStyleCnt="6"/>
      <dgm:spPr/>
    </dgm:pt>
    <dgm:pt modelId="{6036500D-93BB-4AEB-867E-1D132D25F857}" type="pres">
      <dgm:prSet presAssocID="{6B39910E-FC6F-4AE6-9576-F00F4FAADB02}" presName="vertSpace2b" presStyleCnt="0"/>
      <dgm:spPr/>
    </dgm:pt>
    <dgm:pt modelId="{73A86EC5-9744-453D-B75A-56A3A9C4F95F}" type="pres">
      <dgm:prSet presAssocID="{3E0A7EE5-B25A-427A-B9AF-E05E2A642621}" presName="thickLine" presStyleLbl="alignNode1" presStyleIdx="1" presStyleCnt="2"/>
      <dgm:spPr/>
    </dgm:pt>
    <dgm:pt modelId="{A64DAA3F-F324-4965-AFA7-F4C63C667F0C}" type="pres">
      <dgm:prSet presAssocID="{3E0A7EE5-B25A-427A-B9AF-E05E2A642621}" presName="horz1" presStyleCnt="0"/>
      <dgm:spPr/>
    </dgm:pt>
    <dgm:pt modelId="{87BFD916-E0F8-40C2-A24A-E024186D2F39}" type="pres">
      <dgm:prSet presAssocID="{3E0A7EE5-B25A-427A-B9AF-E05E2A642621}" presName="tx1" presStyleLbl="revTx" presStyleIdx="4" presStyleCnt="8" custScaleX="153363"/>
      <dgm:spPr/>
    </dgm:pt>
    <dgm:pt modelId="{CAEB501A-6D6A-4859-85D3-BC28E963F040}" type="pres">
      <dgm:prSet presAssocID="{3E0A7EE5-B25A-427A-B9AF-E05E2A642621}" presName="vert1" presStyleCnt="0"/>
      <dgm:spPr/>
    </dgm:pt>
    <dgm:pt modelId="{827AB732-5C36-4F62-AB93-2AA6DBFD8D0B}" type="pres">
      <dgm:prSet presAssocID="{D6A99260-C420-4270-9DF4-768AF658F409}" presName="vertSpace2a" presStyleCnt="0"/>
      <dgm:spPr/>
    </dgm:pt>
    <dgm:pt modelId="{F40D40F6-6716-4006-96C4-FAA97B38828F}" type="pres">
      <dgm:prSet presAssocID="{D6A99260-C420-4270-9DF4-768AF658F409}" presName="horz2" presStyleCnt="0"/>
      <dgm:spPr/>
    </dgm:pt>
    <dgm:pt modelId="{576F3EED-93ED-40A6-99D3-F7A5D5624BF2}" type="pres">
      <dgm:prSet presAssocID="{D6A99260-C420-4270-9DF4-768AF658F409}" presName="horzSpace2" presStyleCnt="0"/>
      <dgm:spPr/>
    </dgm:pt>
    <dgm:pt modelId="{8667A8E8-174D-4A58-8C34-12F465CA4B34}" type="pres">
      <dgm:prSet presAssocID="{D6A99260-C420-4270-9DF4-768AF658F409}" presName="tx2" presStyleLbl="revTx" presStyleIdx="5" presStyleCnt="8"/>
      <dgm:spPr/>
    </dgm:pt>
    <dgm:pt modelId="{B37AFB21-D4AE-4E8E-991B-B7926F2C4398}" type="pres">
      <dgm:prSet presAssocID="{D6A99260-C420-4270-9DF4-768AF658F409}" presName="vert2" presStyleCnt="0"/>
      <dgm:spPr/>
    </dgm:pt>
    <dgm:pt modelId="{3EA07866-7B9E-4CF5-8744-45A080F5245E}" type="pres">
      <dgm:prSet presAssocID="{D6A99260-C420-4270-9DF4-768AF658F409}" presName="thinLine2b" presStyleLbl="callout" presStyleIdx="3" presStyleCnt="6"/>
      <dgm:spPr/>
    </dgm:pt>
    <dgm:pt modelId="{5C36466C-8302-4563-879C-583A251DA5A2}" type="pres">
      <dgm:prSet presAssocID="{D6A99260-C420-4270-9DF4-768AF658F409}" presName="vertSpace2b" presStyleCnt="0"/>
      <dgm:spPr/>
    </dgm:pt>
    <dgm:pt modelId="{579DD8AA-AA8D-41BF-8270-B0010B342518}" type="pres">
      <dgm:prSet presAssocID="{0BE6E256-1E05-4DCA-9D36-0D87E8012733}" presName="horz2" presStyleCnt="0"/>
      <dgm:spPr/>
    </dgm:pt>
    <dgm:pt modelId="{D9AD4734-8F83-4990-B640-968DBA1135F3}" type="pres">
      <dgm:prSet presAssocID="{0BE6E256-1E05-4DCA-9D36-0D87E8012733}" presName="horzSpace2" presStyleCnt="0"/>
      <dgm:spPr/>
    </dgm:pt>
    <dgm:pt modelId="{4971B0CA-9084-4ADA-94E3-F9B707DF0ED4}" type="pres">
      <dgm:prSet presAssocID="{0BE6E256-1E05-4DCA-9D36-0D87E8012733}" presName="tx2" presStyleLbl="revTx" presStyleIdx="6" presStyleCnt="8"/>
      <dgm:spPr/>
    </dgm:pt>
    <dgm:pt modelId="{C56FBE63-194B-41F5-B55E-F69B80B5C828}" type="pres">
      <dgm:prSet presAssocID="{0BE6E256-1E05-4DCA-9D36-0D87E8012733}" presName="vert2" presStyleCnt="0"/>
      <dgm:spPr/>
    </dgm:pt>
    <dgm:pt modelId="{B385A87B-7BD0-4ED4-A80C-A6E69D575787}" type="pres">
      <dgm:prSet presAssocID="{0BE6E256-1E05-4DCA-9D36-0D87E8012733}" presName="thinLine2b" presStyleLbl="callout" presStyleIdx="4" presStyleCnt="6"/>
      <dgm:spPr/>
    </dgm:pt>
    <dgm:pt modelId="{C5BBCFDB-B602-40D6-9E80-02467CDF692B}" type="pres">
      <dgm:prSet presAssocID="{0BE6E256-1E05-4DCA-9D36-0D87E8012733}" presName="vertSpace2b" presStyleCnt="0"/>
      <dgm:spPr/>
    </dgm:pt>
    <dgm:pt modelId="{566A4AEB-A8D9-4D89-BE07-D57F16096492}" type="pres">
      <dgm:prSet presAssocID="{2928F745-4536-413E-B6F1-F472F99CCAFD}" presName="horz2" presStyleCnt="0"/>
      <dgm:spPr/>
    </dgm:pt>
    <dgm:pt modelId="{1428F3D4-43CD-4B95-918C-E72433BF8B6E}" type="pres">
      <dgm:prSet presAssocID="{2928F745-4536-413E-B6F1-F472F99CCAFD}" presName="horzSpace2" presStyleCnt="0"/>
      <dgm:spPr/>
    </dgm:pt>
    <dgm:pt modelId="{70AEEC4F-34AC-4686-A7D6-2DE554D47970}" type="pres">
      <dgm:prSet presAssocID="{2928F745-4536-413E-B6F1-F472F99CCAFD}" presName="tx2" presStyleLbl="revTx" presStyleIdx="7" presStyleCnt="8"/>
      <dgm:spPr/>
    </dgm:pt>
    <dgm:pt modelId="{F6139CB0-D293-4DB1-AF08-6956021F368F}" type="pres">
      <dgm:prSet presAssocID="{2928F745-4536-413E-B6F1-F472F99CCAFD}" presName="vert2" presStyleCnt="0"/>
      <dgm:spPr/>
    </dgm:pt>
    <dgm:pt modelId="{7B2A4444-21DA-411C-A783-4EAB3224837C}" type="pres">
      <dgm:prSet presAssocID="{2928F745-4536-413E-B6F1-F472F99CCAFD}" presName="thinLine2b" presStyleLbl="callout" presStyleIdx="5" presStyleCnt="6"/>
      <dgm:spPr/>
    </dgm:pt>
    <dgm:pt modelId="{D412CB62-C5A9-435D-91E3-437A225B7763}" type="pres">
      <dgm:prSet presAssocID="{2928F745-4536-413E-B6F1-F472F99CCAFD}" presName="vertSpace2b" presStyleCnt="0"/>
      <dgm:spPr/>
    </dgm:pt>
  </dgm:ptLst>
  <dgm:cxnLst>
    <dgm:cxn modelId="{ED8D7B01-0E64-43FF-8A07-F08139E37132}" type="presOf" srcId="{6B39910E-FC6F-4AE6-9576-F00F4FAADB02}" destId="{E76030F1-6AA1-4A12-AD2E-F1309838A919}" srcOrd="0" destOrd="0" presId="urn:microsoft.com/office/officeart/2008/layout/LinedList"/>
    <dgm:cxn modelId="{88B64405-B1FC-4F83-8B8F-EB0E98B7E93C}" type="presOf" srcId="{D6A99260-C420-4270-9DF4-768AF658F409}" destId="{8667A8E8-174D-4A58-8C34-12F465CA4B34}" srcOrd="0" destOrd="0" presId="urn:microsoft.com/office/officeart/2008/layout/LinedList"/>
    <dgm:cxn modelId="{DEB85D20-A323-497A-B501-08CC9728206C}" type="presOf" srcId="{28C2588F-C179-4D38-9C28-AA918137852E}" destId="{30B972E5-33A9-4DC1-9653-D03A58EDA3F4}" srcOrd="0" destOrd="0" presId="urn:microsoft.com/office/officeart/2008/layout/LinedList"/>
    <dgm:cxn modelId="{2A66B72B-00EA-4213-99C2-A94C7836A3E1}" srcId="{15016708-9DB3-499D-8806-CF0C7F081897}" destId="{3E0A7EE5-B25A-427A-B9AF-E05E2A642621}" srcOrd="1" destOrd="0" parTransId="{38C3DF7C-0EAC-4929-ACD8-88F19644F6C5}" sibTransId="{2CD41697-CAF8-42A9-BBD2-601E04A26D9C}"/>
    <dgm:cxn modelId="{C3E93237-15DF-40E4-BFD2-1DE7DD2C7456}" srcId="{3E0A7EE5-B25A-427A-B9AF-E05E2A642621}" destId="{0BE6E256-1E05-4DCA-9D36-0D87E8012733}" srcOrd="1" destOrd="0" parTransId="{A7325F8D-6EB1-4817-A952-8B485FCF4EAE}" sibTransId="{B1D34CC4-3D09-455C-966D-6CA67EB2AD0A}"/>
    <dgm:cxn modelId="{6C72CD42-D26F-4E30-9049-AFE56769FBCB}" srcId="{28C2588F-C179-4D38-9C28-AA918137852E}" destId="{6B39910E-FC6F-4AE6-9576-F00F4FAADB02}" srcOrd="2" destOrd="0" parTransId="{043F0143-4318-48CE-B04E-4481DCE6019D}" sibTransId="{FDCFCEBE-00C1-4181-8EE2-B9234FD4CA52}"/>
    <dgm:cxn modelId="{5C851C48-2DBF-41E0-8B72-381389BD8409}" srcId="{3E0A7EE5-B25A-427A-B9AF-E05E2A642621}" destId="{D6A99260-C420-4270-9DF4-768AF658F409}" srcOrd="0" destOrd="0" parTransId="{FB5831DD-4781-4D79-B633-0CE7BB9CB9BE}" sibTransId="{8CAFE4B8-466B-4310-B3AC-129FF08FE458}"/>
    <dgm:cxn modelId="{61BD8D54-1511-4342-BBF2-A67B375BF4DE}" type="presOf" srcId="{0BE6E256-1E05-4DCA-9D36-0D87E8012733}" destId="{4971B0CA-9084-4ADA-94E3-F9B707DF0ED4}" srcOrd="0" destOrd="0" presId="urn:microsoft.com/office/officeart/2008/layout/LinedList"/>
    <dgm:cxn modelId="{8D9C6F58-2F71-41CE-91EC-81AB8EE6E66C}" type="presOf" srcId="{DE74EAC4-026F-4BB1-B519-7AD494D37F52}" destId="{B5665A82-3504-4671-9288-E9E4B43E0D44}" srcOrd="0" destOrd="0" presId="urn:microsoft.com/office/officeart/2008/layout/LinedList"/>
    <dgm:cxn modelId="{56BE2987-9C5D-4244-AD24-1D52E49BC31C}" type="presOf" srcId="{15016708-9DB3-499D-8806-CF0C7F081897}" destId="{E53F0709-B694-4778-8332-444E1B9CBAB1}" srcOrd="0" destOrd="0" presId="urn:microsoft.com/office/officeart/2008/layout/LinedList"/>
    <dgm:cxn modelId="{1B3D6A8F-B138-4903-8D5A-67F1604CE59A}" type="presOf" srcId="{0DD097E9-D255-4ED2-8AC3-CB7BAE4BB20B}" destId="{A6EE4CCC-DBCF-461E-B46E-DE2C6BD5471A}" srcOrd="0" destOrd="0" presId="urn:microsoft.com/office/officeart/2008/layout/LinedList"/>
    <dgm:cxn modelId="{8B6940B8-DDD8-4841-9066-A1AC734CBED5}" type="presOf" srcId="{3E0A7EE5-B25A-427A-B9AF-E05E2A642621}" destId="{87BFD916-E0F8-40C2-A24A-E024186D2F39}" srcOrd="0" destOrd="0" presId="urn:microsoft.com/office/officeart/2008/layout/LinedList"/>
    <dgm:cxn modelId="{9C7BB2B9-B1C4-414D-B1CD-9105DBD48CD9}" srcId="{3E0A7EE5-B25A-427A-B9AF-E05E2A642621}" destId="{2928F745-4536-413E-B6F1-F472F99CCAFD}" srcOrd="2" destOrd="0" parTransId="{B5A752A7-9E88-4285-B14C-2A9EA4DFF50A}" sibTransId="{EBF59355-12B9-4E30-99BE-B071B61BD9AA}"/>
    <dgm:cxn modelId="{A0FC87E3-C1CD-49E7-862B-41BE074BF2C9}" srcId="{15016708-9DB3-499D-8806-CF0C7F081897}" destId="{28C2588F-C179-4D38-9C28-AA918137852E}" srcOrd="0" destOrd="0" parTransId="{950D5847-2C6C-4523-9187-AB554B6C2616}" sibTransId="{867A983B-3F3C-4AB5-8C40-7291796A86D0}"/>
    <dgm:cxn modelId="{1026EFEE-A016-476B-80D7-3E8134097AAC}" srcId="{28C2588F-C179-4D38-9C28-AA918137852E}" destId="{DE74EAC4-026F-4BB1-B519-7AD494D37F52}" srcOrd="0" destOrd="0" parTransId="{FFF6953F-66AC-4008-A488-48031DD033BF}" sibTransId="{A1E7D4A0-E3CF-4678-87B9-80EB31D90760}"/>
    <dgm:cxn modelId="{FC95CCF4-23AA-4B7E-90C2-2F574D177D9E}" srcId="{28C2588F-C179-4D38-9C28-AA918137852E}" destId="{0DD097E9-D255-4ED2-8AC3-CB7BAE4BB20B}" srcOrd="1" destOrd="0" parTransId="{DAFA84EB-94D5-4173-A0A5-56B12E321C67}" sibTransId="{3E0F1125-8E8A-4A97-A65A-F80F6AB9910B}"/>
    <dgm:cxn modelId="{5E2C2FF9-B63A-4A0D-AED0-9B27DEF889FE}" type="presOf" srcId="{2928F745-4536-413E-B6F1-F472F99CCAFD}" destId="{70AEEC4F-34AC-4686-A7D6-2DE554D47970}" srcOrd="0" destOrd="0" presId="urn:microsoft.com/office/officeart/2008/layout/LinedList"/>
    <dgm:cxn modelId="{BDA02D1B-4D49-4A8D-A8BF-C85A33825C82}" type="presParOf" srcId="{E53F0709-B694-4778-8332-444E1B9CBAB1}" destId="{C96DA1D1-AE32-4547-8FD5-06622A20952F}" srcOrd="0" destOrd="0" presId="urn:microsoft.com/office/officeart/2008/layout/LinedList"/>
    <dgm:cxn modelId="{2AC2CB9E-351F-4122-AFD1-A52B8C2D2DFF}" type="presParOf" srcId="{E53F0709-B694-4778-8332-444E1B9CBAB1}" destId="{A1A5A6B6-6558-4C4F-8BD7-92F405173D31}" srcOrd="1" destOrd="0" presId="urn:microsoft.com/office/officeart/2008/layout/LinedList"/>
    <dgm:cxn modelId="{9461CB25-2ACB-4B05-8808-BB01B954491D}" type="presParOf" srcId="{A1A5A6B6-6558-4C4F-8BD7-92F405173D31}" destId="{30B972E5-33A9-4DC1-9653-D03A58EDA3F4}" srcOrd="0" destOrd="0" presId="urn:microsoft.com/office/officeart/2008/layout/LinedList"/>
    <dgm:cxn modelId="{238C9F6C-E278-4905-8341-5949DCC3F348}" type="presParOf" srcId="{A1A5A6B6-6558-4C4F-8BD7-92F405173D31}" destId="{94683DC7-54A8-4B11-9DC1-9E684C5F68C2}" srcOrd="1" destOrd="0" presId="urn:microsoft.com/office/officeart/2008/layout/LinedList"/>
    <dgm:cxn modelId="{82DEB93D-76E7-4777-8EBC-8770A6CA3F80}" type="presParOf" srcId="{94683DC7-54A8-4B11-9DC1-9E684C5F68C2}" destId="{61875078-2BAA-4C6B-A8A7-404CDA17EE24}" srcOrd="0" destOrd="0" presId="urn:microsoft.com/office/officeart/2008/layout/LinedList"/>
    <dgm:cxn modelId="{0EE574E7-C991-4080-80F2-612ACAD92638}" type="presParOf" srcId="{94683DC7-54A8-4B11-9DC1-9E684C5F68C2}" destId="{09C4ECEE-9E5D-4072-9F42-2C9028433AE1}" srcOrd="1" destOrd="0" presId="urn:microsoft.com/office/officeart/2008/layout/LinedList"/>
    <dgm:cxn modelId="{438FFF2D-024B-47D8-945A-1F704872C0B8}" type="presParOf" srcId="{09C4ECEE-9E5D-4072-9F42-2C9028433AE1}" destId="{877DDD59-B9BD-41E5-9DBA-DE079E0F993C}" srcOrd="0" destOrd="0" presId="urn:microsoft.com/office/officeart/2008/layout/LinedList"/>
    <dgm:cxn modelId="{8F3AA27B-5C92-4270-9951-3A2F6E5CA156}" type="presParOf" srcId="{09C4ECEE-9E5D-4072-9F42-2C9028433AE1}" destId="{B5665A82-3504-4671-9288-E9E4B43E0D44}" srcOrd="1" destOrd="0" presId="urn:microsoft.com/office/officeart/2008/layout/LinedList"/>
    <dgm:cxn modelId="{5F1610D3-43DF-44E6-93FE-905ACBB86977}" type="presParOf" srcId="{09C4ECEE-9E5D-4072-9F42-2C9028433AE1}" destId="{123C047A-8949-49D2-94F2-4C99D3F0E9F3}" srcOrd="2" destOrd="0" presId="urn:microsoft.com/office/officeart/2008/layout/LinedList"/>
    <dgm:cxn modelId="{88DFE942-2E2E-40C8-991F-46CB40DAC589}" type="presParOf" srcId="{94683DC7-54A8-4B11-9DC1-9E684C5F68C2}" destId="{18DA5EF8-8B81-49B1-9F6A-29D77D537DCB}" srcOrd="2" destOrd="0" presId="urn:microsoft.com/office/officeart/2008/layout/LinedList"/>
    <dgm:cxn modelId="{B072BD99-3856-43E1-9651-67BC9ECBC1C3}" type="presParOf" srcId="{94683DC7-54A8-4B11-9DC1-9E684C5F68C2}" destId="{43610201-8944-4816-84EF-10A16B7E0DA8}" srcOrd="3" destOrd="0" presId="urn:microsoft.com/office/officeart/2008/layout/LinedList"/>
    <dgm:cxn modelId="{0959733E-7BF6-4319-978E-AD15CDBC4061}" type="presParOf" srcId="{94683DC7-54A8-4B11-9DC1-9E684C5F68C2}" destId="{ADF4C5E8-BAFB-4868-908B-B7A3F0AAA462}" srcOrd="4" destOrd="0" presId="urn:microsoft.com/office/officeart/2008/layout/LinedList"/>
    <dgm:cxn modelId="{BA579C24-7066-4220-944B-7A345914A750}" type="presParOf" srcId="{ADF4C5E8-BAFB-4868-908B-B7A3F0AAA462}" destId="{6E9A2DCB-BF2D-4813-AA7D-71B875D3542E}" srcOrd="0" destOrd="0" presId="urn:microsoft.com/office/officeart/2008/layout/LinedList"/>
    <dgm:cxn modelId="{232FF983-6316-4D5F-BC9E-D6A7D8DE70F9}" type="presParOf" srcId="{ADF4C5E8-BAFB-4868-908B-B7A3F0AAA462}" destId="{A6EE4CCC-DBCF-461E-B46E-DE2C6BD5471A}" srcOrd="1" destOrd="0" presId="urn:microsoft.com/office/officeart/2008/layout/LinedList"/>
    <dgm:cxn modelId="{077C9C7D-E7B8-4BD2-B658-06968DEC1CAC}" type="presParOf" srcId="{ADF4C5E8-BAFB-4868-908B-B7A3F0AAA462}" destId="{9CF88364-DA26-4BF3-8D21-5584BA9DE8A4}" srcOrd="2" destOrd="0" presId="urn:microsoft.com/office/officeart/2008/layout/LinedList"/>
    <dgm:cxn modelId="{96E4DADD-16FA-4A28-AA5D-668BAB488AAD}" type="presParOf" srcId="{94683DC7-54A8-4B11-9DC1-9E684C5F68C2}" destId="{5CD435FF-0600-4884-A3D9-4AA16E90D2D8}" srcOrd="5" destOrd="0" presId="urn:microsoft.com/office/officeart/2008/layout/LinedList"/>
    <dgm:cxn modelId="{6A928064-1693-414C-B177-C6BA73CF4FB8}" type="presParOf" srcId="{94683DC7-54A8-4B11-9DC1-9E684C5F68C2}" destId="{C78E822B-82D6-4861-98AA-D44A112F8A73}" srcOrd="6" destOrd="0" presId="urn:microsoft.com/office/officeart/2008/layout/LinedList"/>
    <dgm:cxn modelId="{5FB50703-BBDB-4FB3-95B1-21619C1F757F}" type="presParOf" srcId="{94683DC7-54A8-4B11-9DC1-9E684C5F68C2}" destId="{572F940C-CF4D-4341-8BAD-7D16B4A7A6AB}" srcOrd="7" destOrd="0" presId="urn:microsoft.com/office/officeart/2008/layout/LinedList"/>
    <dgm:cxn modelId="{18AAFA76-AAED-466C-A0FC-856178CCF74D}" type="presParOf" srcId="{572F940C-CF4D-4341-8BAD-7D16B4A7A6AB}" destId="{D86FE7EA-CB17-4D3D-BC16-5520D34B189D}" srcOrd="0" destOrd="0" presId="urn:microsoft.com/office/officeart/2008/layout/LinedList"/>
    <dgm:cxn modelId="{4D03B695-7477-4479-8FF5-8B39A10C5B28}" type="presParOf" srcId="{572F940C-CF4D-4341-8BAD-7D16B4A7A6AB}" destId="{E76030F1-6AA1-4A12-AD2E-F1309838A919}" srcOrd="1" destOrd="0" presId="urn:microsoft.com/office/officeart/2008/layout/LinedList"/>
    <dgm:cxn modelId="{A01D63FE-F95C-47B4-9322-B9DA11E1649E}" type="presParOf" srcId="{572F940C-CF4D-4341-8BAD-7D16B4A7A6AB}" destId="{B145F29D-B0F8-4E8B-9CC4-56F5C64E6B59}" srcOrd="2" destOrd="0" presId="urn:microsoft.com/office/officeart/2008/layout/LinedList"/>
    <dgm:cxn modelId="{2757603D-3DBF-4076-9A56-F0ECA844788D}" type="presParOf" srcId="{94683DC7-54A8-4B11-9DC1-9E684C5F68C2}" destId="{8ABC26A6-2DD4-499F-85C6-27ACC1493327}" srcOrd="8" destOrd="0" presId="urn:microsoft.com/office/officeart/2008/layout/LinedList"/>
    <dgm:cxn modelId="{F02DC004-6631-47F0-AC1F-BF75B50C9C4D}" type="presParOf" srcId="{94683DC7-54A8-4B11-9DC1-9E684C5F68C2}" destId="{6036500D-93BB-4AEB-867E-1D132D25F857}" srcOrd="9" destOrd="0" presId="urn:microsoft.com/office/officeart/2008/layout/LinedList"/>
    <dgm:cxn modelId="{F5A7DFC8-655F-476D-8E09-D2804F8BF763}" type="presParOf" srcId="{E53F0709-B694-4778-8332-444E1B9CBAB1}" destId="{73A86EC5-9744-453D-B75A-56A3A9C4F95F}" srcOrd="2" destOrd="0" presId="urn:microsoft.com/office/officeart/2008/layout/LinedList"/>
    <dgm:cxn modelId="{C16F15A9-1E2C-4F1E-965D-CF8975C25385}" type="presParOf" srcId="{E53F0709-B694-4778-8332-444E1B9CBAB1}" destId="{A64DAA3F-F324-4965-AFA7-F4C63C667F0C}" srcOrd="3" destOrd="0" presId="urn:microsoft.com/office/officeart/2008/layout/LinedList"/>
    <dgm:cxn modelId="{FCAD3A17-02B8-45FA-83AF-11967C5C2AF3}" type="presParOf" srcId="{A64DAA3F-F324-4965-AFA7-F4C63C667F0C}" destId="{87BFD916-E0F8-40C2-A24A-E024186D2F39}" srcOrd="0" destOrd="0" presId="urn:microsoft.com/office/officeart/2008/layout/LinedList"/>
    <dgm:cxn modelId="{EC6F9A37-0E6F-40B2-A3C0-87685B1E4882}" type="presParOf" srcId="{A64DAA3F-F324-4965-AFA7-F4C63C667F0C}" destId="{CAEB501A-6D6A-4859-85D3-BC28E963F040}" srcOrd="1" destOrd="0" presId="urn:microsoft.com/office/officeart/2008/layout/LinedList"/>
    <dgm:cxn modelId="{38720F1E-9BFA-4770-946C-E3E5D375C1E8}" type="presParOf" srcId="{CAEB501A-6D6A-4859-85D3-BC28E963F040}" destId="{827AB732-5C36-4F62-AB93-2AA6DBFD8D0B}" srcOrd="0" destOrd="0" presId="urn:microsoft.com/office/officeart/2008/layout/LinedList"/>
    <dgm:cxn modelId="{DACDABB3-0673-4864-9B20-1E347A49061B}" type="presParOf" srcId="{CAEB501A-6D6A-4859-85D3-BC28E963F040}" destId="{F40D40F6-6716-4006-96C4-FAA97B38828F}" srcOrd="1" destOrd="0" presId="urn:microsoft.com/office/officeart/2008/layout/LinedList"/>
    <dgm:cxn modelId="{3D2993D8-F429-4069-B039-39F4362BC20B}" type="presParOf" srcId="{F40D40F6-6716-4006-96C4-FAA97B38828F}" destId="{576F3EED-93ED-40A6-99D3-F7A5D5624BF2}" srcOrd="0" destOrd="0" presId="urn:microsoft.com/office/officeart/2008/layout/LinedList"/>
    <dgm:cxn modelId="{9BFAFF51-F41D-419A-9E2A-08A901047D6E}" type="presParOf" srcId="{F40D40F6-6716-4006-96C4-FAA97B38828F}" destId="{8667A8E8-174D-4A58-8C34-12F465CA4B34}" srcOrd="1" destOrd="0" presId="urn:microsoft.com/office/officeart/2008/layout/LinedList"/>
    <dgm:cxn modelId="{1479C67A-2CEB-457F-94EE-17D3F90C6ACE}" type="presParOf" srcId="{F40D40F6-6716-4006-96C4-FAA97B38828F}" destId="{B37AFB21-D4AE-4E8E-991B-B7926F2C4398}" srcOrd="2" destOrd="0" presId="urn:microsoft.com/office/officeart/2008/layout/LinedList"/>
    <dgm:cxn modelId="{11B980C3-17D9-41E3-BED9-7265B788121E}" type="presParOf" srcId="{CAEB501A-6D6A-4859-85D3-BC28E963F040}" destId="{3EA07866-7B9E-4CF5-8744-45A080F5245E}" srcOrd="2" destOrd="0" presId="urn:microsoft.com/office/officeart/2008/layout/LinedList"/>
    <dgm:cxn modelId="{C53BA00A-4889-4FAE-9BBA-0FAB529E6113}" type="presParOf" srcId="{CAEB501A-6D6A-4859-85D3-BC28E963F040}" destId="{5C36466C-8302-4563-879C-583A251DA5A2}" srcOrd="3" destOrd="0" presId="urn:microsoft.com/office/officeart/2008/layout/LinedList"/>
    <dgm:cxn modelId="{9A27A498-9CBF-4EEC-8A3D-F44475B8CA47}" type="presParOf" srcId="{CAEB501A-6D6A-4859-85D3-BC28E963F040}" destId="{579DD8AA-AA8D-41BF-8270-B0010B342518}" srcOrd="4" destOrd="0" presId="urn:microsoft.com/office/officeart/2008/layout/LinedList"/>
    <dgm:cxn modelId="{04D20058-0372-4C33-8E4E-9505495B460A}" type="presParOf" srcId="{579DD8AA-AA8D-41BF-8270-B0010B342518}" destId="{D9AD4734-8F83-4990-B640-968DBA1135F3}" srcOrd="0" destOrd="0" presId="urn:microsoft.com/office/officeart/2008/layout/LinedList"/>
    <dgm:cxn modelId="{D8EC6DB4-EF4E-457A-B101-38B760CA8AAC}" type="presParOf" srcId="{579DD8AA-AA8D-41BF-8270-B0010B342518}" destId="{4971B0CA-9084-4ADA-94E3-F9B707DF0ED4}" srcOrd="1" destOrd="0" presId="urn:microsoft.com/office/officeart/2008/layout/LinedList"/>
    <dgm:cxn modelId="{E09A3F1E-787C-4C90-8E99-0DA76A7A9D24}" type="presParOf" srcId="{579DD8AA-AA8D-41BF-8270-B0010B342518}" destId="{C56FBE63-194B-41F5-B55E-F69B80B5C828}" srcOrd="2" destOrd="0" presId="urn:microsoft.com/office/officeart/2008/layout/LinedList"/>
    <dgm:cxn modelId="{9ECE9DCE-BAFD-4170-957D-3587724A7DD9}" type="presParOf" srcId="{CAEB501A-6D6A-4859-85D3-BC28E963F040}" destId="{B385A87B-7BD0-4ED4-A80C-A6E69D575787}" srcOrd="5" destOrd="0" presId="urn:microsoft.com/office/officeart/2008/layout/LinedList"/>
    <dgm:cxn modelId="{ACE22C4F-83DA-4E7B-ACA8-6A30E5FD71F2}" type="presParOf" srcId="{CAEB501A-6D6A-4859-85D3-BC28E963F040}" destId="{C5BBCFDB-B602-40D6-9E80-02467CDF692B}" srcOrd="6" destOrd="0" presId="urn:microsoft.com/office/officeart/2008/layout/LinedList"/>
    <dgm:cxn modelId="{9E666A12-3D2C-4B62-9A74-8624E2172592}" type="presParOf" srcId="{CAEB501A-6D6A-4859-85D3-BC28E963F040}" destId="{566A4AEB-A8D9-4D89-BE07-D57F16096492}" srcOrd="7" destOrd="0" presId="urn:microsoft.com/office/officeart/2008/layout/LinedList"/>
    <dgm:cxn modelId="{5FADCBDE-924F-437D-A6C3-B9FDE3E98C45}" type="presParOf" srcId="{566A4AEB-A8D9-4D89-BE07-D57F16096492}" destId="{1428F3D4-43CD-4B95-918C-E72433BF8B6E}" srcOrd="0" destOrd="0" presId="urn:microsoft.com/office/officeart/2008/layout/LinedList"/>
    <dgm:cxn modelId="{34908140-6436-405A-B19C-F5683D9A58E0}" type="presParOf" srcId="{566A4AEB-A8D9-4D89-BE07-D57F16096492}" destId="{70AEEC4F-34AC-4686-A7D6-2DE554D47970}" srcOrd="1" destOrd="0" presId="urn:microsoft.com/office/officeart/2008/layout/LinedList"/>
    <dgm:cxn modelId="{7778D182-7667-468A-9D40-D444153E8F07}" type="presParOf" srcId="{566A4AEB-A8D9-4D89-BE07-D57F16096492}" destId="{F6139CB0-D293-4DB1-AF08-6956021F368F}" srcOrd="2" destOrd="0" presId="urn:microsoft.com/office/officeart/2008/layout/LinedList"/>
    <dgm:cxn modelId="{1D4720B7-9765-4CAA-B26C-3A58A0A5F4BF}" type="presParOf" srcId="{CAEB501A-6D6A-4859-85D3-BC28E963F040}" destId="{7B2A4444-21DA-411C-A783-4EAB3224837C}" srcOrd="8" destOrd="0" presId="urn:microsoft.com/office/officeart/2008/layout/LinedList"/>
    <dgm:cxn modelId="{3368ABBD-1B28-4AD1-BCFE-DD31DE0EC93F}" type="presParOf" srcId="{CAEB501A-6D6A-4859-85D3-BC28E963F040}" destId="{D412CB62-C5A9-435D-91E3-437A225B7763}" srcOrd="9"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16A2F38-0921-4307-9FF7-DCF7B9DCDF2F}"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67828570-B4DF-49E5-A70B-B66692282D19}">
      <dgm:prSet/>
      <dgm:spPr/>
      <dgm:t>
        <a:bodyPr/>
        <a:lstStyle/>
        <a:p>
          <a:r>
            <a:rPr lang="en-US" b="0" i="0" dirty="0">
              <a:latin typeface="Times New Roman" panose="02020603050405020304" pitchFamily="18" charset="0"/>
              <a:cs typeface="Times New Roman" panose="02020603050405020304" pitchFamily="18" charset="0"/>
            </a:rPr>
            <a:t>Wei, M., Fang, G., Nikitas, N., &amp; Ge, Y. (2024). Machine-learning-based tropical cyclone wind field model incorporating multiple meteorological parameters. </a:t>
          </a:r>
          <a:r>
            <a:rPr lang="en-US" b="0" i="1" dirty="0">
              <a:latin typeface="Times New Roman" panose="02020603050405020304" pitchFamily="18" charset="0"/>
              <a:cs typeface="Times New Roman" panose="02020603050405020304" pitchFamily="18" charset="0"/>
            </a:rPr>
            <a:t>Journal of Wind Engineering and Industrial Aerodynamics</a:t>
          </a:r>
          <a:r>
            <a:rPr lang="en-US" b="0" i="0" dirty="0">
              <a:latin typeface="Times New Roman" panose="02020603050405020304" pitchFamily="18" charset="0"/>
              <a:cs typeface="Times New Roman" panose="02020603050405020304" pitchFamily="18" charset="0"/>
            </a:rPr>
            <a:t>, </a:t>
          </a:r>
          <a:r>
            <a:rPr lang="en-US" b="0" i="1" dirty="0">
              <a:latin typeface="Times New Roman" panose="02020603050405020304" pitchFamily="18" charset="0"/>
              <a:cs typeface="Times New Roman" panose="02020603050405020304" pitchFamily="18" charset="0"/>
            </a:rPr>
            <a:t>255</a:t>
          </a:r>
          <a:r>
            <a:rPr lang="en-US" b="0" i="0" dirty="0">
              <a:latin typeface="Times New Roman" panose="02020603050405020304" pitchFamily="18" charset="0"/>
              <a:cs typeface="Times New Roman" panose="02020603050405020304" pitchFamily="18" charset="0"/>
            </a:rPr>
            <a:t>, 105936</a:t>
          </a:r>
          <a:r>
            <a:rPr lang="en-US" b="0" i="0" dirty="0"/>
            <a:t>.</a:t>
          </a:r>
          <a:endParaRPr lang="en-US" dirty="0"/>
        </a:p>
      </dgm:t>
    </dgm:pt>
    <dgm:pt modelId="{D8CD89C7-8AE5-493A-86C2-BB7FBE6EDC5D}" type="parTrans" cxnId="{18A3B6F6-E87E-468B-A364-76B34B96C4B2}">
      <dgm:prSet/>
      <dgm:spPr/>
      <dgm:t>
        <a:bodyPr/>
        <a:lstStyle/>
        <a:p>
          <a:endParaRPr lang="en-US"/>
        </a:p>
      </dgm:t>
    </dgm:pt>
    <dgm:pt modelId="{F3EC0D10-9EC8-4386-94A5-70465FEEEDD8}" type="sibTrans" cxnId="{18A3B6F6-E87E-468B-A364-76B34B96C4B2}">
      <dgm:prSet/>
      <dgm:spPr/>
      <dgm:t>
        <a:bodyPr/>
        <a:lstStyle/>
        <a:p>
          <a:endParaRPr lang="en-US"/>
        </a:p>
      </dgm:t>
    </dgm:pt>
    <dgm:pt modelId="{B7F30C85-9027-42E1-ADDB-43B3741B967D}">
      <dgm:prSet/>
      <dgm:spPr/>
      <dgm:t>
        <a:bodyPr/>
        <a:lstStyle/>
        <a:p>
          <a:r>
            <a:rPr lang="en-US" b="0" i="0" dirty="0">
              <a:latin typeface="Times New Roman" panose="02020603050405020304" pitchFamily="18" charset="0"/>
              <a:cs typeface="Times New Roman" panose="02020603050405020304" pitchFamily="18" charset="0"/>
            </a:rPr>
            <a:t>Knaff, J. A., &amp; Zehr, R. M. (2007). Reexamination of tropical cyclone wind–pressure relationships. </a:t>
          </a:r>
          <a:r>
            <a:rPr lang="en-US" b="0" i="1" dirty="0">
              <a:latin typeface="Times New Roman" panose="02020603050405020304" pitchFamily="18" charset="0"/>
              <a:cs typeface="Times New Roman" panose="02020603050405020304" pitchFamily="18" charset="0"/>
            </a:rPr>
            <a:t>Weather and Forecasting</a:t>
          </a:r>
          <a:r>
            <a:rPr lang="en-US" b="0" i="0" dirty="0">
              <a:latin typeface="Times New Roman" panose="02020603050405020304" pitchFamily="18" charset="0"/>
              <a:cs typeface="Times New Roman" panose="02020603050405020304" pitchFamily="18" charset="0"/>
            </a:rPr>
            <a:t>, </a:t>
          </a:r>
          <a:r>
            <a:rPr lang="en-US" b="0" i="1" dirty="0">
              <a:latin typeface="Times New Roman" panose="02020603050405020304" pitchFamily="18" charset="0"/>
              <a:cs typeface="Times New Roman" panose="02020603050405020304" pitchFamily="18" charset="0"/>
            </a:rPr>
            <a:t>22</a:t>
          </a:r>
          <a:r>
            <a:rPr lang="en-US" b="0" i="0" dirty="0">
              <a:latin typeface="Times New Roman" panose="02020603050405020304" pitchFamily="18" charset="0"/>
              <a:cs typeface="Times New Roman" panose="02020603050405020304" pitchFamily="18" charset="0"/>
            </a:rPr>
            <a:t>(1), 71-88.</a:t>
          </a:r>
          <a:endParaRPr lang="en-US" dirty="0">
            <a:latin typeface="Times New Roman" panose="02020603050405020304" pitchFamily="18" charset="0"/>
            <a:cs typeface="Times New Roman" panose="02020603050405020304" pitchFamily="18" charset="0"/>
          </a:endParaRPr>
        </a:p>
      </dgm:t>
    </dgm:pt>
    <dgm:pt modelId="{DD7EB988-00AA-4033-9EF1-F50803F7416B}" type="parTrans" cxnId="{BCF7E2DC-04AC-469D-B6BF-934B1BA0A62A}">
      <dgm:prSet/>
      <dgm:spPr/>
      <dgm:t>
        <a:bodyPr/>
        <a:lstStyle/>
        <a:p>
          <a:endParaRPr lang="en-US"/>
        </a:p>
      </dgm:t>
    </dgm:pt>
    <dgm:pt modelId="{B729659B-1FCD-40C4-A2B7-83E8983122BD}" type="sibTrans" cxnId="{BCF7E2DC-04AC-469D-B6BF-934B1BA0A62A}">
      <dgm:prSet/>
      <dgm:spPr/>
      <dgm:t>
        <a:bodyPr/>
        <a:lstStyle/>
        <a:p>
          <a:endParaRPr lang="en-US"/>
        </a:p>
      </dgm:t>
    </dgm:pt>
    <dgm:pt modelId="{DC9FEE46-C0FD-4746-AFC3-484BBE7B1DA9}" type="pres">
      <dgm:prSet presAssocID="{816A2F38-0921-4307-9FF7-DCF7B9DCDF2F}" presName="vert0" presStyleCnt="0">
        <dgm:presLayoutVars>
          <dgm:dir/>
          <dgm:animOne val="branch"/>
          <dgm:animLvl val="lvl"/>
        </dgm:presLayoutVars>
      </dgm:prSet>
      <dgm:spPr/>
    </dgm:pt>
    <dgm:pt modelId="{3589E0E1-69F2-4194-919E-B92C787375CF}" type="pres">
      <dgm:prSet presAssocID="{67828570-B4DF-49E5-A70B-B66692282D19}" presName="thickLine" presStyleLbl="alignNode1" presStyleIdx="0" presStyleCnt="2"/>
      <dgm:spPr/>
    </dgm:pt>
    <dgm:pt modelId="{E2ED6A74-9608-4150-BE7E-C29CF642A425}" type="pres">
      <dgm:prSet presAssocID="{67828570-B4DF-49E5-A70B-B66692282D19}" presName="horz1" presStyleCnt="0"/>
      <dgm:spPr/>
    </dgm:pt>
    <dgm:pt modelId="{A7B7F060-EB22-4D50-99AA-7B16E157D35F}" type="pres">
      <dgm:prSet presAssocID="{67828570-B4DF-49E5-A70B-B66692282D19}" presName="tx1" presStyleLbl="revTx" presStyleIdx="0" presStyleCnt="2"/>
      <dgm:spPr/>
    </dgm:pt>
    <dgm:pt modelId="{187E7A4E-B0FD-4FCC-999F-4CDEDA5F0A4A}" type="pres">
      <dgm:prSet presAssocID="{67828570-B4DF-49E5-A70B-B66692282D19}" presName="vert1" presStyleCnt="0"/>
      <dgm:spPr/>
    </dgm:pt>
    <dgm:pt modelId="{58A39D0C-649A-4749-BFE2-DFC7D95CC059}" type="pres">
      <dgm:prSet presAssocID="{B7F30C85-9027-42E1-ADDB-43B3741B967D}" presName="thickLine" presStyleLbl="alignNode1" presStyleIdx="1" presStyleCnt="2"/>
      <dgm:spPr/>
    </dgm:pt>
    <dgm:pt modelId="{7D5A351F-9A92-4723-BCA8-6A9A9268DE79}" type="pres">
      <dgm:prSet presAssocID="{B7F30C85-9027-42E1-ADDB-43B3741B967D}" presName="horz1" presStyleCnt="0"/>
      <dgm:spPr/>
    </dgm:pt>
    <dgm:pt modelId="{BAED4469-F746-4A46-B4E5-B2E94FA479BE}" type="pres">
      <dgm:prSet presAssocID="{B7F30C85-9027-42E1-ADDB-43B3741B967D}" presName="tx1" presStyleLbl="revTx" presStyleIdx="1" presStyleCnt="2"/>
      <dgm:spPr/>
    </dgm:pt>
    <dgm:pt modelId="{1BD58D02-9748-4F14-A5F7-9ABE47685DB8}" type="pres">
      <dgm:prSet presAssocID="{B7F30C85-9027-42E1-ADDB-43B3741B967D}" presName="vert1" presStyleCnt="0"/>
      <dgm:spPr/>
    </dgm:pt>
  </dgm:ptLst>
  <dgm:cxnLst>
    <dgm:cxn modelId="{0FB3FA06-C0EE-45AD-9C1F-DFC79294C42C}" type="presOf" srcId="{B7F30C85-9027-42E1-ADDB-43B3741B967D}" destId="{BAED4469-F746-4A46-B4E5-B2E94FA479BE}" srcOrd="0" destOrd="0" presId="urn:microsoft.com/office/officeart/2008/layout/LinedList"/>
    <dgm:cxn modelId="{F186835E-C310-49C2-912B-67D8EC17DE93}" type="presOf" srcId="{67828570-B4DF-49E5-A70B-B66692282D19}" destId="{A7B7F060-EB22-4D50-99AA-7B16E157D35F}" srcOrd="0" destOrd="0" presId="urn:microsoft.com/office/officeart/2008/layout/LinedList"/>
    <dgm:cxn modelId="{F36BB769-AB42-41A7-96DC-D48B1010CC6D}" type="presOf" srcId="{816A2F38-0921-4307-9FF7-DCF7B9DCDF2F}" destId="{DC9FEE46-C0FD-4746-AFC3-484BBE7B1DA9}" srcOrd="0" destOrd="0" presId="urn:microsoft.com/office/officeart/2008/layout/LinedList"/>
    <dgm:cxn modelId="{BCF7E2DC-04AC-469D-B6BF-934B1BA0A62A}" srcId="{816A2F38-0921-4307-9FF7-DCF7B9DCDF2F}" destId="{B7F30C85-9027-42E1-ADDB-43B3741B967D}" srcOrd="1" destOrd="0" parTransId="{DD7EB988-00AA-4033-9EF1-F50803F7416B}" sibTransId="{B729659B-1FCD-40C4-A2B7-83E8983122BD}"/>
    <dgm:cxn modelId="{18A3B6F6-E87E-468B-A364-76B34B96C4B2}" srcId="{816A2F38-0921-4307-9FF7-DCF7B9DCDF2F}" destId="{67828570-B4DF-49E5-A70B-B66692282D19}" srcOrd="0" destOrd="0" parTransId="{D8CD89C7-8AE5-493A-86C2-BB7FBE6EDC5D}" sibTransId="{F3EC0D10-9EC8-4386-94A5-70465FEEEDD8}"/>
    <dgm:cxn modelId="{8EEB5829-BFA3-48A4-8725-F6B598236B77}" type="presParOf" srcId="{DC9FEE46-C0FD-4746-AFC3-484BBE7B1DA9}" destId="{3589E0E1-69F2-4194-919E-B92C787375CF}" srcOrd="0" destOrd="0" presId="urn:microsoft.com/office/officeart/2008/layout/LinedList"/>
    <dgm:cxn modelId="{253B043E-3672-4C34-B627-96B60ACF99D9}" type="presParOf" srcId="{DC9FEE46-C0FD-4746-AFC3-484BBE7B1DA9}" destId="{E2ED6A74-9608-4150-BE7E-C29CF642A425}" srcOrd="1" destOrd="0" presId="urn:microsoft.com/office/officeart/2008/layout/LinedList"/>
    <dgm:cxn modelId="{F5B7DF9B-6FF3-491B-856C-3063167C1106}" type="presParOf" srcId="{E2ED6A74-9608-4150-BE7E-C29CF642A425}" destId="{A7B7F060-EB22-4D50-99AA-7B16E157D35F}" srcOrd="0" destOrd="0" presId="urn:microsoft.com/office/officeart/2008/layout/LinedList"/>
    <dgm:cxn modelId="{B5F47BFE-038C-4392-A8F6-BC25BF53EB98}" type="presParOf" srcId="{E2ED6A74-9608-4150-BE7E-C29CF642A425}" destId="{187E7A4E-B0FD-4FCC-999F-4CDEDA5F0A4A}" srcOrd="1" destOrd="0" presId="urn:microsoft.com/office/officeart/2008/layout/LinedList"/>
    <dgm:cxn modelId="{5A0118D3-78F8-43E2-9682-32FB188119CB}" type="presParOf" srcId="{DC9FEE46-C0FD-4746-AFC3-484BBE7B1DA9}" destId="{58A39D0C-649A-4749-BFE2-DFC7D95CC059}" srcOrd="2" destOrd="0" presId="urn:microsoft.com/office/officeart/2008/layout/LinedList"/>
    <dgm:cxn modelId="{2469784A-1951-4305-8A5D-6C872E23364D}" type="presParOf" srcId="{DC9FEE46-C0FD-4746-AFC3-484BBE7B1DA9}" destId="{7D5A351F-9A92-4723-BCA8-6A9A9268DE79}" srcOrd="3" destOrd="0" presId="urn:microsoft.com/office/officeart/2008/layout/LinedList"/>
    <dgm:cxn modelId="{11E629B0-E8E2-4F72-9180-55EE280FAE37}" type="presParOf" srcId="{7D5A351F-9A92-4723-BCA8-6A9A9268DE79}" destId="{BAED4469-F746-4A46-B4E5-B2E94FA479BE}" srcOrd="0" destOrd="0" presId="urn:microsoft.com/office/officeart/2008/layout/LinedList"/>
    <dgm:cxn modelId="{D000FB57-6F28-4632-A1A4-A830B070AB45}" type="presParOf" srcId="{7D5A351F-9A92-4723-BCA8-6A9A9268DE79}" destId="{1BD58D02-9748-4F14-A5F7-9ABE47685DB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6DA1D1-AE32-4547-8FD5-06622A20952F}">
      <dsp:nvSpPr>
        <dsp:cNvPr id="0" name=""/>
        <dsp:cNvSpPr/>
      </dsp:nvSpPr>
      <dsp:spPr>
        <a:xfrm>
          <a:off x="0" y="0"/>
          <a:ext cx="643758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B972E5-33A9-4DC1-9653-D03A58EDA3F4}">
      <dsp:nvSpPr>
        <dsp:cNvPr id="0" name=""/>
        <dsp:cNvSpPr/>
      </dsp:nvSpPr>
      <dsp:spPr>
        <a:xfrm>
          <a:off x="0" y="0"/>
          <a:ext cx="1701605" cy="1995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Key concerns include:</a:t>
          </a:r>
          <a:endParaRPr lang="en-US" sz="2100" kern="1200" dirty="0">
            <a:latin typeface="Times New Roman" panose="02020603050405020304" pitchFamily="18" charset="0"/>
            <a:cs typeface="Times New Roman" panose="02020603050405020304" pitchFamily="18" charset="0"/>
          </a:endParaRPr>
        </a:p>
      </dsp:txBody>
      <dsp:txXfrm>
        <a:off x="0" y="0"/>
        <a:ext cx="1701605" cy="1995312"/>
      </dsp:txXfrm>
    </dsp:sp>
    <dsp:sp modelId="{B5665A82-3504-4671-9288-E9E4B43E0D44}">
      <dsp:nvSpPr>
        <dsp:cNvPr id="0" name=""/>
        <dsp:cNvSpPr/>
      </dsp:nvSpPr>
      <dsp:spPr>
        <a:xfrm>
          <a:off x="1790342" y="31176"/>
          <a:ext cx="4643894" cy="623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High population density in coastal areas</a:t>
          </a:r>
        </a:p>
      </dsp:txBody>
      <dsp:txXfrm>
        <a:off x="1790342" y="31176"/>
        <a:ext cx="4643894" cy="623535"/>
      </dsp:txXfrm>
    </dsp:sp>
    <dsp:sp modelId="{18DA5EF8-8B81-49B1-9F6A-29D77D537DCB}">
      <dsp:nvSpPr>
        <dsp:cNvPr id="0" name=""/>
        <dsp:cNvSpPr/>
      </dsp:nvSpPr>
      <dsp:spPr>
        <a:xfrm>
          <a:off x="1701605" y="654711"/>
          <a:ext cx="4732631"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EE4CCC-DBCF-461E-B46E-DE2C6BD5471A}">
      <dsp:nvSpPr>
        <dsp:cNvPr id="0" name=""/>
        <dsp:cNvSpPr/>
      </dsp:nvSpPr>
      <dsp:spPr>
        <a:xfrm>
          <a:off x="1790342" y="685888"/>
          <a:ext cx="4643894" cy="623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Significant agricultural and infrastructural exposure</a:t>
          </a:r>
        </a:p>
      </dsp:txBody>
      <dsp:txXfrm>
        <a:off x="1790342" y="685888"/>
        <a:ext cx="4643894" cy="623535"/>
      </dsp:txXfrm>
    </dsp:sp>
    <dsp:sp modelId="{5CD435FF-0600-4884-A3D9-4AA16E90D2D8}">
      <dsp:nvSpPr>
        <dsp:cNvPr id="0" name=""/>
        <dsp:cNvSpPr/>
      </dsp:nvSpPr>
      <dsp:spPr>
        <a:xfrm>
          <a:off x="1701605" y="1309423"/>
          <a:ext cx="4732631"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76030F1-6AA1-4A12-AD2E-F1309838A919}">
      <dsp:nvSpPr>
        <dsp:cNvPr id="0" name=""/>
        <dsp:cNvSpPr/>
      </dsp:nvSpPr>
      <dsp:spPr>
        <a:xfrm>
          <a:off x="1790342" y="1340600"/>
          <a:ext cx="4643894" cy="623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Rising frequency and intensity of cyclones due to climate change</a:t>
          </a:r>
        </a:p>
      </dsp:txBody>
      <dsp:txXfrm>
        <a:off x="1790342" y="1340600"/>
        <a:ext cx="4643894" cy="623535"/>
      </dsp:txXfrm>
    </dsp:sp>
    <dsp:sp modelId="{8ABC26A6-2DD4-499F-85C6-27ACC1493327}">
      <dsp:nvSpPr>
        <dsp:cNvPr id="0" name=""/>
        <dsp:cNvSpPr/>
      </dsp:nvSpPr>
      <dsp:spPr>
        <a:xfrm>
          <a:off x="1701605" y="1964135"/>
          <a:ext cx="4732631"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3A86EC5-9744-453D-B75A-56A3A9C4F95F}">
      <dsp:nvSpPr>
        <dsp:cNvPr id="0" name=""/>
        <dsp:cNvSpPr/>
      </dsp:nvSpPr>
      <dsp:spPr>
        <a:xfrm>
          <a:off x="0" y="1995312"/>
          <a:ext cx="643758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BFD916-E0F8-40C2-A24A-E024186D2F39}">
      <dsp:nvSpPr>
        <dsp:cNvPr id="0" name=""/>
        <dsp:cNvSpPr/>
      </dsp:nvSpPr>
      <dsp:spPr>
        <a:xfrm>
          <a:off x="0" y="1995312"/>
          <a:ext cx="1783673" cy="1995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Role of Data Analysis &amp; Visualization: </a:t>
          </a:r>
          <a:endParaRPr lang="en-US" sz="1800" kern="1200" dirty="0">
            <a:latin typeface="Times New Roman" panose="02020603050405020304" pitchFamily="18" charset="0"/>
            <a:cs typeface="Times New Roman" panose="02020603050405020304" pitchFamily="18" charset="0"/>
          </a:endParaRPr>
        </a:p>
      </dsp:txBody>
      <dsp:txXfrm>
        <a:off x="0" y="1995312"/>
        <a:ext cx="1783673" cy="1995312"/>
      </dsp:txXfrm>
    </dsp:sp>
    <dsp:sp modelId="{8667A8E8-174D-4A58-8C34-12F465CA4B34}">
      <dsp:nvSpPr>
        <dsp:cNvPr id="0" name=""/>
        <dsp:cNvSpPr/>
      </dsp:nvSpPr>
      <dsp:spPr>
        <a:xfrm>
          <a:off x="1870901" y="2026489"/>
          <a:ext cx="4564933" cy="623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Helps in Understanding cyclone patterns and trends  </a:t>
          </a:r>
        </a:p>
      </dsp:txBody>
      <dsp:txXfrm>
        <a:off x="1870901" y="2026489"/>
        <a:ext cx="4564933" cy="623535"/>
      </dsp:txXfrm>
    </dsp:sp>
    <dsp:sp modelId="{3EA07866-7B9E-4CF5-8744-45A080F5245E}">
      <dsp:nvSpPr>
        <dsp:cNvPr id="0" name=""/>
        <dsp:cNvSpPr/>
      </dsp:nvSpPr>
      <dsp:spPr>
        <a:xfrm>
          <a:off x="1783673" y="2650024"/>
          <a:ext cx="4652161"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971B0CA-9084-4ADA-94E3-F9B707DF0ED4}">
      <dsp:nvSpPr>
        <dsp:cNvPr id="0" name=""/>
        <dsp:cNvSpPr/>
      </dsp:nvSpPr>
      <dsp:spPr>
        <a:xfrm>
          <a:off x="1870901" y="2681201"/>
          <a:ext cx="4564933" cy="623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Enhancing early warning systems</a:t>
          </a:r>
        </a:p>
      </dsp:txBody>
      <dsp:txXfrm>
        <a:off x="1870901" y="2681201"/>
        <a:ext cx="4564933" cy="623535"/>
      </dsp:txXfrm>
    </dsp:sp>
    <dsp:sp modelId="{B385A87B-7BD0-4ED4-A80C-A6E69D575787}">
      <dsp:nvSpPr>
        <dsp:cNvPr id="0" name=""/>
        <dsp:cNvSpPr/>
      </dsp:nvSpPr>
      <dsp:spPr>
        <a:xfrm>
          <a:off x="1783673" y="3304736"/>
          <a:ext cx="4652161"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0AEEC4F-34AC-4686-A7D6-2DE554D47970}">
      <dsp:nvSpPr>
        <dsp:cNvPr id="0" name=""/>
        <dsp:cNvSpPr/>
      </dsp:nvSpPr>
      <dsp:spPr>
        <a:xfrm>
          <a:off x="1870901" y="3335913"/>
          <a:ext cx="4564933" cy="623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Supporting disaster preparedness and mitigation</a:t>
          </a:r>
        </a:p>
      </dsp:txBody>
      <dsp:txXfrm>
        <a:off x="1870901" y="3335913"/>
        <a:ext cx="4564933" cy="623535"/>
      </dsp:txXfrm>
    </dsp:sp>
    <dsp:sp modelId="{7B2A4444-21DA-411C-A783-4EAB3224837C}">
      <dsp:nvSpPr>
        <dsp:cNvPr id="0" name=""/>
        <dsp:cNvSpPr/>
      </dsp:nvSpPr>
      <dsp:spPr>
        <a:xfrm>
          <a:off x="1783673" y="3959448"/>
          <a:ext cx="4652161"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89E0E1-69F2-4194-919E-B92C787375CF}">
      <dsp:nvSpPr>
        <dsp:cNvPr id="0" name=""/>
        <dsp:cNvSpPr/>
      </dsp:nvSpPr>
      <dsp:spPr>
        <a:xfrm>
          <a:off x="0" y="0"/>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7B7F060-EB22-4D50-99AA-7B16E157D35F}">
      <dsp:nvSpPr>
        <dsp:cNvPr id="0" name=""/>
        <dsp:cNvSpPr/>
      </dsp:nvSpPr>
      <dsp:spPr>
        <a:xfrm>
          <a:off x="0" y="0"/>
          <a:ext cx="10515600" cy="217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0" i="0" kern="1200" dirty="0">
              <a:latin typeface="Times New Roman" panose="02020603050405020304" pitchFamily="18" charset="0"/>
              <a:cs typeface="Times New Roman" panose="02020603050405020304" pitchFamily="18" charset="0"/>
            </a:rPr>
            <a:t>Wei, M., Fang, G., Nikitas, N., &amp; Ge, Y. (2024). Machine-learning-based tropical cyclone wind field model incorporating multiple meteorological parameters. </a:t>
          </a:r>
          <a:r>
            <a:rPr lang="en-US" sz="3200" b="0" i="1" kern="1200" dirty="0">
              <a:latin typeface="Times New Roman" panose="02020603050405020304" pitchFamily="18" charset="0"/>
              <a:cs typeface="Times New Roman" panose="02020603050405020304" pitchFamily="18" charset="0"/>
            </a:rPr>
            <a:t>Journal of Wind Engineering and Industrial Aerodynamics</a:t>
          </a:r>
          <a:r>
            <a:rPr lang="en-US" sz="3200" b="0" i="0" kern="1200" dirty="0">
              <a:latin typeface="Times New Roman" panose="02020603050405020304" pitchFamily="18" charset="0"/>
              <a:cs typeface="Times New Roman" panose="02020603050405020304" pitchFamily="18" charset="0"/>
            </a:rPr>
            <a:t>, </a:t>
          </a:r>
          <a:r>
            <a:rPr lang="en-US" sz="3200" b="0" i="1" kern="1200" dirty="0">
              <a:latin typeface="Times New Roman" panose="02020603050405020304" pitchFamily="18" charset="0"/>
              <a:cs typeface="Times New Roman" panose="02020603050405020304" pitchFamily="18" charset="0"/>
            </a:rPr>
            <a:t>255</a:t>
          </a:r>
          <a:r>
            <a:rPr lang="en-US" sz="3200" b="0" i="0" kern="1200" dirty="0">
              <a:latin typeface="Times New Roman" panose="02020603050405020304" pitchFamily="18" charset="0"/>
              <a:cs typeface="Times New Roman" panose="02020603050405020304" pitchFamily="18" charset="0"/>
            </a:rPr>
            <a:t>, 105936</a:t>
          </a:r>
          <a:r>
            <a:rPr lang="en-US" sz="3200" b="0" i="0" kern="1200" dirty="0"/>
            <a:t>.</a:t>
          </a:r>
          <a:endParaRPr lang="en-US" sz="3200" kern="1200" dirty="0"/>
        </a:p>
      </dsp:txBody>
      <dsp:txXfrm>
        <a:off x="0" y="0"/>
        <a:ext cx="10515600" cy="2175669"/>
      </dsp:txXfrm>
    </dsp:sp>
    <dsp:sp modelId="{58A39D0C-649A-4749-BFE2-DFC7D95CC059}">
      <dsp:nvSpPr>
        <dsp:cNvPr id="0" name=""/>
        <dsp:cNvSpPr/>
      </dsp:nvSpPr>
      <dsp:spPr>
        <a:xfrm>
          <a:off x="0" y="2175669"/>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ED4469-F746-4A46-B4E5-B2E94FA479BE}">
      <dsp:nvSpPr>
        <dsp:cNvPr id="0" name=""/>
        <dsp:cNvSpPr/>
      </dsp:nvSpPr>
      <dsp:spPr>
        <a:xfrm>
          <a:off x="0" y="2175669"/>
          <a:ext cx="10515600" cy="217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0" i="0" kern="1200" dirty="0">
              <a:latin typeface="Times New Roman" panose="02020603050405020304" pitchFamily="18" charset="0"/>
              <a:cs typeface="Times New Roman" panose="02020603050405020304" pitchFamily="18" charset="0"/>
            </a:rPr>
            <a:t>Knaff, J. A., &amp; Zehr, R. M. (2007). Reexamination of tropical cyclone wind–pressure relationships. </a:t>
          </a:r>
          <a:r>
            <a:rPr lang="en-US" sz="3200" b="0" i="1" kern="1200" dirty="0">
              <a:latin typeface="Times New Roman" panose="02020603050405020304" pitchFamily="18" charset="0"/>
              <a:cs typeface="Times New Roman" panose="02020603050405020304" pitchFamily="18" charset="0"/>
            </a:rPr>
            <a:t>Weather and Forecasting</a:t>
          </a:r>
          <a:r>
            <a:rPr lang="en-US" sz="3200" b="0" i="0" kern="1200" dirty="0">
              <a:latin typeface="Times New Roman" panose="02020603050405020304" pitchFamily="18" charset="0"/>
              <a:cs typeface="Times New Roman" panose="02020603050405020304" pitchFamily="18" charset="0"/>
            </a:rPr>
            <a:t>, </a:t>
          </a:r>
          <a:r>
            <a:rPr lang="en-US" sz="3200" b="0" i="1" kern="1200" dirty="0">
              <a:latin typeface="Times New Roman" panose="02020603050405020304" pitchFamily="18" charset="0"/>
              <a:cs typeface="Times New Roman" panose="02020603050405020304" pitchFamily="18" charset="0"/>
            </a:rPr>
            <a:t>22</a:t>
          </a:r>
          <a:r>
            <a:rPr lang="en-US" sz="3200" b="0" i="0" kern="1200" dirty="0">
              <a:latin typeface="Times New Roman" panose="02020603050405020304" pitchFamily="18" charset="0"/>
              <a:cs typeface="Times New Roman" panose="02020603050405020304" pitchFamily="18" charset="0"/>
            </a:rPr>
            <a:t>(1), 71-88.</a:t>
          </a:r>
          <a:endParaRPr lang="en-US" sz="3200" kern="1200" dirty="0">
            <a:latin typeface="Times New Roman" panose="02020603050405020304" pitchFamily="18" charset="0"/>
            <a:cs typeface="Times New Roman" panose="02020603050405020304" pitchFamily="18" charset="0"/>
          </a:endParaRPr>
        </a:p>
      </dsp:txBody>
      <dsp:txXfrm>
        <a:off x="0" y="2175669"/>
        <a:ext cx="10515600" cy="217566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5F04A6-FD69-43C2-A7DA-F9B13E5CB930}" type="datetimeFigureOut">
              <a:rPr lang="en-IN" smtClean="0"/>
              <a:t>22-04-2025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E377F0-46A9-4CE5-ABA5-D61AF47974CE}" type="slidenum">
              <a:rPr lang="en-IN" smtClean="0"/>
              <a:t>‹#›</a:t>
            </a:fld>
            <a:endParaRPr lang="en-IN"/>
          </a:p>
        </p:txBody>
      </p:sp>
    </p:spTree>
    <p:extLst>
      <p:ext uri="{BB962C8B-B14F-4D97-AF65-F5344CB8AC3E}">
        <p14:creationId xmlns:p14="http://schemas.microsoft.com/office/powerpoint/2010/main" val="30526939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88B4A9-0735-4FC6-97A8-9E48922F445C}"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51247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38660-EAB8-CE6C-8190-35A2061F71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EB08B2-E526-ADB2-79FC-14641D9160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A97F24-8811-1CA3-55E1-5CD631F2E48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E5181CB-E6E8-A3A1-3F68-0B922F10750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E377F0-46A9-4CE5-ABA5-D61AF47974CE}"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007429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EE377F0-46A9-4CE5-ABA5-D61AF47974CE}" type="slidenum">
              <a:rPr lang="en-IN" smtClean="0"/>
              <a:t>3</a:t>
            </a:fld>
            <a:endParaRPr lang="en-IN"/>
          </a:p>
        </p:txBody>
      </p:sp>
    </p:spTree>
    <p:extLst>
      <p:ext uri="{BB962C8B-B14F-4D97-AF65-F5344CB8AC3E}">
        <p14:creationId xmlns:p14="http://schemas.microsoft.com/office/powerpoint/2010/main" val="1977699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E557A-9EE7-F6BA-C443-B13A211E54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824339F-0DF5-F58E-EDCE-6B723A3286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082EEFB-D95F-6728-15AC-DE076899C3D5}"/>
              </a:ext>
            </a:extLst>
          </p:cNvPr>
          <p:cNvSpPr>
            <a:spLocks noGrp="1"/>
          </p:cNvSpPr>
          <p:nvPr>
            <p:ph type="dt" sz="half" idx="10"/>
          </p:nvPr>
        </p:nvSpPr>
        <p:spPr/>
        <p:txBody>
          <a:bodyPr/>
          <a:lstStyle/>
          <a:p>
            <a:fld id="{25E53519-006A-4254-BE94-8CB9B24EAD04}" type="datetimeFigureOut">
              <a:rPr lang="en-IN" smtClean="0"/>
              <a:t>22-04-2025</a:t>
            </a:fld>
            <a:endParaRPr lang="en-IN"/>
          </a:p>
        </p:txBody>
      </p:sp>
      <p:sp>
        <p:nvSpPr>
          <p:cNvPr id="5" name="Footer Placeholder 4">
            <a:extLst>
              <a:ext uri="{FF2B5EF4-FFF2-40B4-BE49-F238E27FC236}">
                <a16:creationId xmlns:a16="http://schemas.microsoft.com/office/drawing/2014/main" id="{6EE35FEE-E18B-B05E-6226-5ED5CCCFB9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317B4D-B6FA-24FE-CFAD-19E5DE07D9C0}"/>
              </a:ext>
            </a:extLst>
          </p:cNvPr>
          <p:cNvSpPr>
            <a:spLocks noGrp="1"/>
          </p:cNvSpPr>
          <p:nvPr>
            <p:ph type="sldNum" sz="quarter" idx="12"/>
          </p:nvPr>
        </p:nvSpPr>
        <p:spPr/>
        <p:txBody>
          <a:bodyPr/>
          <a:lstStyle/>
          <a:p>
            <a:fld id="{83913108-CFE5-4057-9F16-477C7FBA895C}" type="slidenum">
              <a:rPr lang="en-IN" smtClean="0"/>
              <a:t>‹#›</a:t>
            </a:fld>
            <a:endParaRPr lang="en-IN"/>
          </a:p>
        </p:txBody>
      </p:sp>
    </p:spTree>
    <p:extLst>
      <p:ext uri="{BB962C8B-B14F-4D97-AF65-F5344CB8AC3E}">
        <p14:creationId xmlns:p14="http://schemas.microsoft.com/office/powerpoint/2010/main" val="148368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D1684-8F27-BCE3-E207-F85D983540E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B47A513-5423-44C4-D181-6DB0015B28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ED3230-5070-503F-0593-FC1C91EABD59}"/>
              </a:ext>
            </a:extLst>
          </p:cNvPr>
          <p:cNvSpPr>
            <a:spLocks noGrp="1"/>
          </p:cNvSpPr>
          <p:nvPr>
            <p:ph type="dt" sz="half" idx="10"/>
          </p:nvPr>
        </p:nvSpPr>
        <p:spPr/>
        <p:txBody>
          <a:bodyPr/>
          <a:lstStyle/>
          <a:p>
            <a:fld id="{25E53519-006A-4254-BE94-8CB9B24EAD04}" type="datetimeFigureOut">
              <a:rPr lang="en-IN" smtClean="0"/>
              <a:t>22-04-2025</a:t>
            </a:fld>
            <a:endParaRPr lang="en-IN"/>
          </a:p>
        </p:txBody>
      </p:sp>
      <p:sp>
        <p:nvSpPr>
          <p:cNvPr id="5" name="Footer Placeholder 4">
            <a:extLst>
              <a:ext uri="{FF2B5EF4-FFF2-40B4-BE49-F238E27FC236}">
                <a16:creationId xmlns:a16="http://schemas.microsoft.com/office/drawing/2014/main" id="{89E9016A-FAAE-8A0D-5F7E-8C6DE1ED16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35B2BB-0DEB-2D29-EBDA-47B7491C637B}"/>
              </a:ext>
            </a:extLst>
          </p:cNvPr>
          <p:cNvSpPr>
            <a:spLocks noGrp="1"/>
          </p:cNvSpPr>
          <p:nvPr>
            <p:ph type="sldNum" sz="quarter" idx="12"/>
          </p:nvPr>
        </p:nvSpPr>
        <p:spPr/>
        <p:txBody>
          <a:bodyPr/>
          <a:lstStyle/>
          <a:p>
            <a:fld id="{83913108-CFE5-4057-9F16-477C7FBA895C}" type="slidenum">
              <a:rPr lang="en-IN" smtClean="0"/>
              <a:t>‹#›</a:t>
            </a:fld>
            <a:endParaRPr lang="en-IN"/>
          </a:p>
        </p:txBody>
      </p:sp>
    </p:spTree>
    <p:extLst>
      <p:ext uri="{BB962C8B-B14F-4D97-AF65-F5344CB8AC3E}">
        <p14:creationId xmlns:p14="http://schemas.microsoft.com/office/powerpoint/2010/main" val="3927552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C0088-5576-2C92-F272-70BDD9BFFF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C16B268-00BC-9FCA-A68E-47072CC01D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54756B-119E-7998-906B-68C03982CF6F}"/>
              </a:ext>
            </a:extLst>
          </p:cNvPr>
          <p:cNvSpPr>
            <a:spLocks noGrp="1"/>
          </p:cNvSpPr>
          <p:nvPr>
            <p:ph type="dt" sz="half" idx="10"/>
          </p:nvPr>
        </p:nvSpPr>
        <p:spPr/>
        <p:txBody>
          <a:bodyPr/>
          <a:lstStyle/>
          <a:p>
            <a:fld id="{25E53519-006A-4254-BE94-8CB9B24EAD04}" type="datetimeFigureOut">
              <a:rPr lang="en-IN" smtClean="0"/>
              <a:t>22-04-2025</a:t>
            </a:fld>
            <a:endParaRPr lang="en-IN"/>
          </a:p>
        </p:txBody>
      </p:sp>
      <p:sp>
        <p:nvSpPr>
          <p:cNvPr id="5" name="Footer Placeholder 4">
            <a:extLst>
              <a:ext uri="{FF2B5EF4-FFF2-40B4-BE49-F238E27FC236}">
                <a16:creationId xmlns:a16="http://schemas.microsoft.com/office/drawing/2014/main" id="{AEA6332D-D1B5-F990-5B2E-60554F1F55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ADCCB6-AB74-5B2F-E634-D00C951F5BE8}"/>
              </a:ext>
            </a:extLst>
          </p:cNvPr>
          <p:cNvSpPr>
            <a:spLocks noGrp="1"/>
          </p:cNvSpPr>
          <p:nvPr>
            <p:ph type="sldNum" sz="quarter" idx="12"/>
          </p:nvPr>
        </p:nvSpPr>
        <p:spPr/>
        <p:txBody>
          <a:bodyPr/>
          <a:lstStyle/>
          <a:p>
            <a:fld id="{83913108-CFE5-4057-9F16-477C7FBA895C}" type="slidenum">
              <a:rPr lang="en-IN" smtClean="0"/>
              <a:t>‹#›</a:t>
            </a:fld>
            <a:endParaRPr lang="en-IN"/>
          </a:p>
        </p:txBody>
      </p:sp>
    </p:spTree>
    <p:extLst>
      <p:ext uri="{BB962C8B-B14F-4D97-AF65-F5344CB8AC3E}">
        <p14:creationId xmlns:p14="http://schemas.microsoft.com/office/powerpoint/2010/main" val="103508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56E04-2720-7CC8-B7B9-6E12732F98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240FC1A-3444-C64E-EAAF-D39E80E020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CEB77A4-24C4-D41A-8094-EA77CF4C19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BE7791F-8629-5494-6D8C-29E244101A76}"/>
              </a:ext>
            </a:extLst>
          </p:cNvPr>
          <p:cNvSpPr>
            <a:spLocks noGrp="1"/>
          </p:cNvSpPr>
          <p:nvPr>
            <p:ph type="dt" sz="half" idx="10"/>
          </p:nvPr>
        </p:nvSpPr>
        <p:spPr/>
        <p:txBody>
          <a:bodyPr/>
          <a:lstStyle/>
          <a:p>
            <a:fld id="{25E53519-006A-4254-BE94-8CB9B24EAD04}" type="datetimeFigureOut">
              <a:rPr lang="en-IN" smtClean="0"/>
              <a:t>22-04-2025</a:t>
            </a:fld>
            <a:endParaRPr lang="en-IN"/>
          </a:p>
        </p:txBody>
      </p:sp>
      <p:sp>
        <p:nvSpPr>
          <p:cNvPr id="6" name="Footer Placeholder 5">
            <a:extLst>
              <a:ext uri="{FF2B5EF4-FFF2-40B4-BE49-F238E27FC236}">
                <a16:creationId xmlns:a16="http://schemas.microsoft.com/office/drawing/2014/main" id="{54A1EC52-F7EE-90CF-AE97-AC4BB972F41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B6FA23A-DFCE-7734-E20E-FD7BB03EC153}"/>
              </a:ext>
            </a:extLst>
          </p:cNvPr>
          <p:cNvSpPr>
            <a:spLocks noGrp="1"/>
          </p:cNvSpPr>
          <p:nvPr>
            <p:ph type="sldNum" sz="quarter" idx="12"/>
          </p:nvPr>
        </p:nvSpPr>
        <p:spPr/>
        <p:txBody>
          <a:bodyPr/>
          <a:lstStyle/>
          <a:p>
            <a:fld id="{83913108-CFE5-4057-9F16-477C7FBA895C}" type="slidenum">
              <a:rPr lang="en-IN" smtClean="0"/>
              <a:t>‹#›</a:t>
            </a:fld>
            <a:endParaRPr lang="en-IN"/>
          </a:p>
        </p:txBody>
      </p:sp>
    </p:spTree>
    <p:extLst>
      <p:ext uri="{BB962C8B-B14F-4D97-AF65-F5344CB8AC3E}">
        <p14:creationId xmlns:p14="http://schemas.microsoft.com/office/powerpoint/2010/main" val="3937982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64DDC-4124-2309-9EC6-4134F42EA2F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8889975-78BE-B15A-4F26-C9686EDC6F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A18BEF-5B5A-FE7E-BD9F-9FC608FBFF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1227240-D124-5E41-D968-E1A9652C2D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2C92CF-ED96-9B8C-A4E6-DE58F145F6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B6B97E0-76BF-E7E9-3252-6275E3FFB8F0}"/>
              </a:ext>
            </a:extLst>
          </p:cNvPr>
          <p:cNvSpPr>
            <a:spLocks noGrp="1"/>
          </p:cNvSpPr>
          <p:nvPr>
            <p:ph type="dt" sz="half" idx="10"/>
          </p:nvPr>
        </p:nvSpPr>
        <p:spPr/>
        <p:txBody>
          <a:bodyPr/>
          <a:lstStyle/>
          <a:p>
            <a:fld id="{25E53519-006A-4254-BE94-8CB9B24EAD04}" type="datetimeFigureOut">
              <a:rPr lang="en-IN" smtClean="0"/>
              <a:t>22-04-2025</a:t>
            </a:fld>
            <a:endParaRPr lang="en-IN"/>
          </a:p>
        </p:txBody>
      </p:sp>
      <p:sp>
        <p:nvSpPr>
          <p:cNvPr id="8" name="Footer Placeholder 7">
            <a:extLst>
              <a:ext uri="{FF2B5EF4-FFF2-40B4-BE49-F238E27FC236}">
                <a16:creationId xmlns:a16="http://schemas.microsoft.com/office/drawing/2014/main" id="{CABFACD3-39F6-DD4C-C150-3C70DAC0BCA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01831CB-2B04-4140-91FC-AB4DD5B22686}"/>
              </a:ext>
            </a:extLst>
          </p:cNvPr>
          <p:cNvSpPr>
            <a:spLocks noGrp="1"/>
          </p:cNvSpPr>
          <p:nvPr>
            <p:ph type="sldNum" sz="quarter" idx="12"/>
          </p:nvPr>
        </p:nvSpPr>
        <p:spPr/>
        <p:txBody>
          <a:bodyPr/>
          <a:lstStyle/>
          <a:p>
            <a:fld id="{83913108-CFE5-4057-9F16-477C7FBA895C}" type="slidenum">
              <a:rPr lang="en-IN" smtClean="0"/>
              <a:t>‹#›</a:t>
            </a:fld>
            <a:endParaRPr lang="en-IN"/>
          </a:p>
        </p:txBody>
      </p:sp>
    </p:spTree>
    <p:extLst>
      <p:ext uri="{BB962C8B-B14F-4D97-AF65-F5344CB8AC3E}">
        <p14:creationId xmlns:p14="http://schemas.microsoft.com/office/powerpoint/2010/main" val="322874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A421D-9DD7-A12D-5FAD-50EED4D1F77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5E04EF6-CAB4-36BA-A836-CF025E113F2B}"/>
              </a:ext>
            </a:extLst>
          </p:cNvPr>
          <p:cNvSpPr>
            <a:spLocks noGrp="1"/>
          </p:cNvSpPr>
          <p:nvPr>
            <p:ph type="dt" sz="half" idx="10"/>
          </p:nvPr>
        </p:nvSpPr>
        <p:spPr/>
        <p:txBody>
          <a:bodyPr/>
          <a:lstStyle/>
          <a:p>
            <a:fld id="{25E53519-006A-4254-BE94-8CB9B24EAD04}" type="datetimeFigureOut">
              <a:rPr lang="en-IN" smtClean="0"/>
              <a:t>22-04-2025</a:t>
            </a:fld>
            <a:endParaRPr lang="en-IN"/>
          </a:p>
        </p:txBody>
      </p:sp>
      <p:sp>
        <p:nvSpPr>
          <p:cNvPr id="4" name="Footer Placeholder 3">
            <a:extLst>
              <a:ext uri="{FF2B5EF4-FFF2-40B4-BE49-F238E27FC236}">
                <a16:creationId xmlns:a16="http://schemas.microsoft.com/office/drawing/2014/main" id="{A03B2612-69F3-4617-F05F-C8067423AB5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018842C-E7B8-6470-878B-3936406B3907}"/>
              </a:ext>
            </a:extLst>
          </p:cNvPr>
          <p:cNvSpPr>
            <a:spLocks noGrp="1"/>
          </p:cNvSpPr>
          <p:nvPr>
            <p:ph type="sldNum" sz="quarter" idx="12"/>
          </p:nvPr>
        </p:nvSpPr>
        <p:spPr/>
        <p:txBody>
          <a:bodyPr/>
          <a:lstStyle/>
          <a:p>
            <a:fld id="{83913108-CFE5-4057-9F16-477C7FBA895C}" type="slidenum">
              <a:rPr lang="en-IN" smtClean="0"/>
              <a:t>‹#›</a:t>
            </a:fld>
            <a:endParaRPr lang="en-IN"/>
          </a:p>
        </p:txBody>
      </p:sp>
    </p:spTree>
    <p:extLst>
      <p:ext uri="{BB962C8B-B14F-4D97-AF65-F5344CB8AC3E}">
        <p14:creationId xmlns:p14="http://schemas.microsoft.com/office/powerpoint/2010/main" val="322690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3C483D-D1A9-0EAB-55F7-D5918087119F}"/>
              </a:ext>
            </a:extLst>
          </p:cNvPr>
          <p:cNvSpPr>
            <a:spLocks noGrp="1"/>
          </p:cNvSpPr>
          <p:nvPr>
            <p:ph type="dt" sz="half" idx="10"/>
          </p:nvPr>
        </p:nvSpPr>
        <p:spPr/>
        <p:txBody>
          <a:bodyPr/>
          <a:lstStyle/>
          <a:p>
            <a:fld id="{25E53519-006A-4254-BE94-8CB9B24EAD04}" type="datetimeFigureOut">
              <a:rPr lang="en-IN" smtClean="0"/>
              <a:t>22-04-2025</a:t>
            </a:fld>
            <a:endParaRPr lang="en-IN"/>
          </a:p>
        </p:txBody>
      </p:sp>
      <p:sp>
        <p:nvSpPr>
          <p:cNvPr id="3" name="Footer Placeholder 2">
            <a:extLst>
              <a:ext uri="{FF2B5EF4-FFF2-40B4-BE49-F238E27FC236}">
                <a16:creationId xmlns:a16="http://schemas.microsoft.com/office/drawing/2014/main" id="{B5FD33AD-B59B-BAF7-B0D1-FB38E0D5582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C4A34C6-4185-F6F3-C31E-A0477630C4FB}"/>
              </a:ext>
            </a:extLst>
          </p:cNvPr>
          <p:cNvSpPr>
            <a:spLocks noGrp="1"/>
          </p:cNvSpPr>
          <p:nvPr>
            <p:ph type="sldNum" sz="quarter" idx="12"/>
          </p:nvPr>
        </p:nvSpPr>
        <p:spPr/>
        <p:txBody>
          <a:bodyPr/>
          <a:lstStyle/>
          <a:p>
            <a:fld id="{83913108-CFE5-4057-9F16-477C7FBA895C}" type="slidenum">
              <a:rPr lang="en-IN" smtClean="0"/>
              <a:t>‹#›</a:t>
            </a:fld>
            <a:endParaRPr lang="en-IN"/>
          </a:p>
        </p:txBody>
      </p:sp>
    </p:spTree>
    <p:extLst>
      <p:ext uri="{BB962C8B-B14F-4D97-AF65-F5344CB8AC3E}">
        <p14:creationId xmlns:p14="http://schemas.microsoft.com/office/powerpoint/2010/main" val="3018281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89001-1667-7E02-0D66-8D5261A384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D54F7C4-153E-FE47-D678-DA5D24C1F4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A71A3AC-BA30-76C0-ADB3-65604E3F6A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65D0C6-5720-82E0-9938-9EA88FFB5B69}"/>
              </a:ext>
            </a:extLst>
          </p:cNvPr>
          <p:cNvSpPr>
            <a:spLocks noGrp="1"/>
          </p:cNvSpPr>
          <p:nvPr>
            <p:ph type="dt" sz="half" idx="10"/>
          </p:nvPr>
        </p:nvSpPr>
        <p:spPr/>
        <p:txBody>
          <a:bodyPr/>
          <a:lstStyle/>
          <a:p>
            <a:fld id="{25E53519-006A-4254-BE94-8CB9B24EAD04}" type="datetimeFigureOut">
              <a:rPr lang="en-IN" smtClean="0"/>
              <a:t>22-04-2025</a:t>
            </a:fld>
            <a:endParaRPr lang="en-IN"/>
          </a:p>
        </p:txBody>
      </p:sp>
      <p:sp>
        <p:nvSpPr>
          <p:cNvPr id="6" name="Footer Placeholder 5">
            <a:extLst>
              <a:ext uri="{FF2B5EF4-FFF2-40B4-BE49-F238E27FC236}">
                <a16:creationId xmlns:a16="http://schemas.microsoft.com/office/drawing/2014/main" id="{0C1BF850-228A-B5D4-270F-6D1F12CCF9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934C5DD-AFAD-B796-56E5-B8A7ECB5B16C}"/>
              </a:ext>
            </a:extLst>
          </p:cNvPr>
          <p:cNvSpPr>
            <a:spLocks noGrp="1"/>
          </p:cNvSpPr>
          <p:nvPr>
            <p:ph type="sldNum" sz="quarter" idx="12"/>
          </p:nvPr>
        </p:nvSpPr>
        <p:spPr/>
        <p:txBody>
          <a:bodyPr/>
          <a:lstStyle/>
          <a:p>
            <a:fld id="{83913108-CFE5-4057-9F16-477C7FBA895C}" type="slidenum">
              <a:rPr lang="en-IN" smtClean="0"/>
              <a:t>‹#›</a:t>
            </a:fld>
            <a:endParaRPr lang="en-IN"/>
          </a:p>
        </p:txBody>
      </p:sp>
    </p:spTree>
    <p:extLst>
      <p:ext uri="{BB962C8B-B14F-4D97-AF65-F5344CB8AC3E}">
        <p14:creationId xmlns:p14="http://schemas.microsoft.com/office/powerpoint/2010/main" val="3048645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FBFF1-DDFF-EC62-4108-23BAC17BEA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44486D0-FB04-A667-1DCC-BF96FDB038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7116CB6-AC67-CCCE-77CE-301E1F2AED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1A2D2E-FA4C-207D-2393-D1DB61E27653}"/>
              </a:ext>
            </a:extLst>
          </p:cNvPr>
          <p:cNvSpPr>
            <a:spLocks noGrp="1"/>
          </p:cNvSpPr>
          <p:nvPr>
            <p:ph type="dt" sz="half" idx="10"/>
          </p:nvPr>
        </p:nvSpPr>
        <p:spPr/>
        <p:txBody>
          <a:bodyPr/>
          <a:lstStyle/>
          <a:p>
            <a:fld id="{25E53519-006A-4254-BE94-8CB9B24EAD04}" type="datetimeFigureOut">
              <a:rPr lang="en-IN" smtClean="0"/>
              <a:t>22-04-2025</a:t>
            </a:fld>
            <a:endParaRPr lang="en-IN"/>
          </a:p>
        </p:txBody>
      </p:sp>
      <p:sp>
        <p:nvSpPr>
          <p:cNvPr id="6" name="Footer Placeholder 5">
            <a:extLst>
              <a:ext uri="{FF2B5EF4-FFF2-40B4-BE49-F238E27FC236}">
                <a16:creationId xmlns:a16="http://schemas.microsoft.com/office/drawing/2014/main" id="{33AA4C69-3931-F5A3-0F50-AC0C281D3B7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9B21EA-06E6-2F63-FFAE-92D050B20987}"/>
              </a:ext>
            </a:extLst>
          </p:cNvPr>
          <p:cNvSpPr>
            <a:spLocks noGrp="1"/>
          </p:cNvSpPr>
          <p:nvPr>
            <p:ph type="sldNum" sz="quarter" idx="12"/>
          </p:nvPr>
        </p:nvSpPr>
        <p:spPr/>
        <p:txBody>
          <a:bodyPr/>
          <a:lstStyle/>
          <a:p>
            <a:fld id="{83913108-CFE5-4057-9F16-477C7FBA895C}" type="slidenum">
              <a:rPr lang="en-IN" smtClean="0"/>
              <a:t>‹#›</a:t>
            </a:fld>
            <a:endParaRPr lang="en-IN"/>
          </a:p>
        </p:txBody>
      </p:sp>
    </p:spTree>
    <p:extLst>
      <p:ext uri="{BB962C8B-B14F-4D97-AF65-F5344CB8AC3E}">
        <p14:creationId xmlns:p14="http://schemas.microsoft.com/office/powerpoint/2010/main" val="3810937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9CE8F-E9D1-4F5A-E13B-78EEDC77308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AFA80B2-B2C1-5474-36A1-3CB0FA99C6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0DC0DA-44B7-DC19-4B92-CE7B94830EBB}"/>
              </a:ext>
            </a:extLst>
          </p:cNvPr>
          <p:cNvSpPr>
            <a:spLocks noGrp="1"/>
          </p:cNvSpPr>
          <p:nvPr>
            <p:ph type="dt" sz="half" idx="10"/>
          </p:nvPr>
        </p:nvSpPr>
        <p:spPr/>
        <p:txBody>
          <a:bodyPr/>
          <a:lstStyle/>
          <a:p>
            <a:fld id="{25E53519-006A-4254-BE94-8CB9B24EAD04}" type="datetimeFigureOut">
              <a:rPr lang="en-IN" smtClean="0"/>
              <a:t>22-04-2025</a:t>
            </a:fld>
            <a:endParaRPr lang="en-IN"/>
          </a:p>
        </p:txBody>
      </p:sp>
      <p:sp>
        <p:nvSpPr>
          <p:cNvPr id="5" name="Footer Placeholder 4">
            <a:extLst>
              <a:ext uri="{FF2B5EF4-FFF2-40B4-BE49-F238E27FC236}">
                <a16:creationId xmlns:a16="http://schemas.microsoft.com/office/drawing/2014/main" id="{7B706BF3-FD7A-7F5E-758C-A9FF6EFD64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88A91A-F943-9849-941F-5FB29A9592EF}"/>
              </a:ext>
            </a:extLst>
          </p:cNvPr>
          <p:cNvSpPr>
            <a:spLocks noGrp="1"/>
          </p:cNvSpPr>
          <p:nvPr>
            <p:ph type="sldNum" sz="quarter" idx="12"/>
          </p:nvPr>
        </p:nvSpPr>
        <p:spPr/>
        <p:txBody>
          <a:bodyPr/>
          <a:lstStyle/>
          <a:p>
            <a:fld id="{83913108-CFE5-4057-9F16-477C7FBA895C}" type="slidenum">
              <a:rPr lang="en-IN" smtClean="0"/>
              <a:t>‹#›</a:t>
            </a:fld>
            <a:endParaRPr lang="en-IN"/>
          </a:p>
        </p:txBody>
      </p:sp>
    </p:spTree>
    <p:extLst>
      <p:ext uri="{BB962C8B-B14F-4D97-AF65-F5344CB8AC3E}">
        <p14:creationId xmlns:p14="http://schemas.microsoft.com/office/powerpoint/2010/main" val="2546064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5EFABD-A624-76B8-F690-60EA5B97136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365F508-3C54-E5AE-8FAD-B458B5786B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AAFAE3-E7F7-6B89-BA95-D5B232F9A61D}"/>
              </a:ext>
            </a:extLst>
          </p:cNvPr>
          <p:cNvSpPr>
            <a:spLocks noGrp="1"/>
          </p:cNvSpPr>
          <p:nvPr>
            <p:ph type="dt" sz="half" idx="10"/>
          </p:nvPr>
        </p:nvSpPr>
        <p:spPr/>
        <p:txBody>
          <a:bodyPr/>
          <a:lstStyle/>
          <a:p>
            <a:fld id="{25E53519-006A-4254-BE94-8CB9B24EAD04}" type="datetimeFigureOut">
              <a:rPr lang="en-IN" smtClean="0"/>
              <a:t>22-04-2025</a:t>
            </a:fld>
            <a:endParaRPr lang="en-IN"/>
          </a:p>
        </p:txBody>
      </p:sp>
      <p:sp>
        <p:nvSpPr>
          <p:cNvPr id="5" name="Footer Placeholder 4">
            <a:extLst>
              <a:ext uri="{FF2B5EF4-FFF2-40B4-BE49-F238E27FC236}">
                <a16:creationId xmlns:a16="http://schemas.microsoft.com/office/drawing/2014/main" id="{36B8204E-1160-C9F0-72D5-3F75DBF3B2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2005AD-0650-88A0-894D-DCF0193651CD}"/>
              </a:ext>
            </a:extLst>
          </p:cNvPr>
          <p:cNvSpPr>
            <a:spLocks noGrp="1"/>
          </p:cNvSpPr>
          <p:nvPr>
            <p:ph type="sldNum" sz="quarter" idx="12"/>
          </p:nvPr>
        </p:nvSpPr>
        <p:spPr/>
        <p:txBody>
          <a:bodyPr/>
          <a:lstStyle/>
          <a:p>
            <a:fld id="{83913108-CFE5-4057-9F16-477C7FBA895C}" type="slidenum">
              <a:rPr lang="en-IN" smtClean="0"/>
              <a:t>‹#›</a:t>
            </a:fld>
            <a:endParaRPr lang="en-IN"/>
          </a:p>
        </p:txBody>
      </p:sp>
    </p:spTree>
    <p:extLst>
      <p:ext uri="{BB962C8B-B14F-4D97-AF65-F5344CB8AC3E}">
        <p14:creationId xmlns:p14="http://schemas.microsoft.com/office/powerpoint/2010/main" val="3547405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B38B45-B8DB-2D24-70D5-66ADDF97B3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2314F2-D370-7ACC-6DF9-3F292B3923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F5F003-680E-6249-94E2-A8AC1FE04C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5E53519-006A-4254-BE94-8CB9B24EAD04}" type="datetimeFigureOut">
              <a:rPr lang="en-IN" smtClean="0"/>
              <a:t>22-04-2025</a:t>
            </a:fld>
            <a:endParaRPr lang="en-IN"/>
          </a:p>
        </p:txBody>
      </p:sp>
      <p:sp>
        <p:nvSpPr>
          <p:cNvPr id="5" name="Footer Placeholder 4">
            <a:extLst>
              <a:ext uri="{FF2B5EF4-FFF2-40B4-BE49-F238E27FC236}">
                <a16:creationId xmlns:a16="http://schemas.microsoft.com/office/drawing/2014/main" id="{0721336A-C199-C15E-DEAA-13BCBA0BD9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FF5925B-90A7-D6E5-2769-810280E194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3913108-CFE5-4057-9F16-477C7FBA895C}" type="slidenum">
              <a:rPr lang="en-IN" smtClean="0"/>
              <a:t>‹#›</a:t>
            </a:fld>
            <a:endParaRPr lang="en-IN"/>
          </a:p>
        </p:txBody>
      </p:sp>
    </p:spTree>
    <p:extLst>
      <p:ext uri="{BB962C8B-B14F-4D97-AF65-F5344CB8AC3E}">
        <p14:creationId xmlns:p14="http://schemas.microsoft.com/office/powerpoint/2010/main" val="32536064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90D01200-0224-43C5-AB38-FB4D16B73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452D69D2-D326-92DC-212E-11424D47368D}"/>
              </a:ext>
            </a:extLst>
          </p:cNvPr>
          <p:cNvSpPr>
            <a:spLocks noGrp="1"/>
          </p:cNvSpPr>
          <p:nvPr>
            <p:ph type="ctrTitle"/>
          </p:nvPr>
        </p:nvSpPr>
        <p:spPr>
          <a:xfrm>
            <a:off x="1993692" y="-234883"/>
            <a:ext cx="9018652" cy="1536192"/>
          </a:xfrm>
        </p:spPr>
        <p:txBody>
          <a:bodyPr vert="horz" lIns="91440" tIns="45720" rIns="91440" bIns="45720" rtlCol="0" anchor="b">
            <a:normAutofit/>
          </a:bodyPr>
          <a:lstStyle/>
          <a:p>
            <a:pPr algn="l"/>
            <a:r>
              <a:rPr lang="en-US" sz="2900" b="1" dirty="0">
                <a:latin typeface="Times New Roman" panose="02020603050405020304" pitchFamily="18" charset="0"/>
                <a:cs typeface="Times New Roman" panose="02020603050405020304" pitchFamily="18" charset="0"/>
              </a:rPr>
              <a:t>CYCLONE ANALYSIS OF ODISHA </a:t>
            </a:r>
            <a:br>
              <a:rPr lang="en-US" sz="2900" b="1" kern="1200" dirty="0">
                <a:solidFill>
                  <a:schemeClr val="tx1"/>
                </a:solidFill>
                <a:latin typeface="+mj-lt"/>
                <a:ea typeface="+mj-ea"/>
                <a:cs typeface="+mj-cs"/>
              </a:rPr>
            </a:br>
            <a:endParaRPr lang="en-US" sz="2900" b="1" kern="1200" dirty="0">
              <a:solidFill>
                <a:schemeClr val="tx1"/>
              </a:solidFill>
              <a:latin typeface="+mj-lt"/>
              <a:ea typeface="+mj-ea"/>
              <a:cs typeface="+mj-cs"/>
            </a:endParaRPr>
          </a:p>
        </p:txBody>
      </p:sp>
      <p:sp>
        <p:nvSpPr>
          <p:cNvPr id="46" name="Rectangle 45">
            <a:extLst>
              <a:ext uri="{FF2B5EF4-FFF2-40B4-BE49-F238E27FC236}">
                <a16:creationId xmlns:a16="http://schemas.microsoft.com/office/drawing/2014/main" id="{728A44A4-A002-4A88-9FC9-1D0566C97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 name="Rectangle 47">
            <a:extLst>
              <a:ext uri="{FF2B5EF4-FFF2-40B4-BE49-F238E27FC236}">
                <a16:creationId xmlns:a16="http://schemas.microsoft.com/office/drawing/2014/main" id="{3E7D5C7B-DD16-401B-85CE-4AAA2A4F5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06"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C714DA19-F621-5972-43EB-3580E8DAF387}"/>
              </a:ext>
            </a:extLst>
          </p:cNvPr>
          <p:cNvSpPr>
            <a:spLocks noGrp="1"/>
          </p:cNvSpPr>
          <p:nvPr>
            <p:ph type="subTitle" idx="1"/>
          </p:nvPr>
        </p:nvSpPr>
        <p:spPr>
          <a:xfrm>
            <a:off x="615458" y="2558058"/>
            <a:ext cx="8079475" cy="3680252"/>
          </a:xfrm>
        </p:spPr>
        <p:txBody>
          <a:bodyPr vert="horz" lIns="91440" tIns="45720" rIns="91440" bIns="45720" rtlCol="0">
            <a:normAutofit/>
          </a:bodyPr>
          <a:lstStyle/>
          <a:p>
            <a:pPr algn="l">
              <a:spcAft>
                <a:spcPts val="600"/>
              </a:spcAft>
            </a:pPr>
            <a:r>
              <a:rPr lang="en-US" b="1" dirty="0">
                <a:latin typeface="Times New Roman" panose="02020603050405020304" pitchFamily="18" charset="0"/>
                <a:cs typeface="Times New Roman" panose="02020603050405020304" pitchFamily="18" charset="0"/>
              </a:rPr>
              <a:t>CE-594 , GEOHAZARD SCIENCE AND ENGINEERING</a:t>
            </a:r>
          </a:p>
          <a:p>
            <a:pPr algn="l">
              <a:spcAft>
                <a:spcPts val="600"/>
              </a:spcAft>
            </a:pPr>
            <a:r>
              <a:rPr lang="en-US" b="1" dirty="0">
                <a:latin typeface="Times New Roman" panose="02020603050405020304" pitchFamily="18" charset="0"/>
                <a:cs typeface="Times New Roman" panose="02020603050405020304" pitchFamily="18" charset="0"/>
              </a:rPr>
              <a:t>Department of Civil Engineering,</a:t>
            </a:r>
          </a:p>
          <a:p>
            <a:pPr algn="l">
              <a:spcAft>
                <a:spcPts val="600"/>
              </a:spcAft>
            </a:pPr>
            <a:r>
              <a:rPr lang="en-US" b="1" dirty="0">
                <a:latin typeface="Times New Roman" panose="02020603050405020304" pitchFamily="18" charset="0"/>
                <a:cs typeface="Times New Roman" panose="02020603050405020304" pitchFamily="18" charset="0"/>
              </a:rPr>
              <a:t> IIT Guwahati </a:t>
            </a:r>
          </a:p>
          <a:p>
            <a:pPr algn="l">
              <a:spcAft>
                <a:spcPts val="600"/>
              </a:spcAft>
            </a:pPr>
            <a:endParaRPr lang="en-US" sz="2200" b="1" dirty="0">
              <a:latin typeface="Times New Roman" panose="02020603050405020304" pitchFamily="18" charset="0"/>
              <a:cs typeface="Times New Roman" panose="02020603050405020304" pitchFamily="18" charset="0"/>
            </a:endParaRPr>
          </a:p>
          <a:p>
            <a:pPr algn="l">
              <a:spcAft>
                <a:spcPts val="600"/>
              </a:spcAft>
            </a:pPr>
            <a:r>
              <a:rPr lang="en-US" sz="2200" b="1" dirty="0">
                <a:latin typeface="Times New Roman" panose="02020603050405020304" pitchFamily="18" charset="0"/>
                <a:cs typeface="Times New Roman" panose="02020603050405020304" pitchFamily="18" charset="0"/>
              </a:rPr>
              <a:t>By ,</a:t>
            </a:r>
          </a:p>
          <a:p>
            <a:pPr algn="l">
              <a:spcAft>
                <a:spcPts val="600"/>
              </a:spcAft>
            </a:pPr>
            <a:r>
              <a:rPr lang="en-US" sz="2200" b="1" dirty="0">
                <a:latin typeface="Times New Roman" panose="02020603050405020304" pitchFamily="18" charset="0"/>
                <a:cs typeface="Times New Roman" panose="02020603050405020304" pitchFamily="18" charset="0"/>
              </a:rPr>
              <a:t>Srimaya Mohapatra , 244104010</a:t>
            </a:r>
          </a:p>
          <a:p>
            <a:pPr indent="-228600" algn="l">
              <a:buFont typeface="Arial" panose="020B0604020202020204" pitchFamily="34" charset="0"/>
              <a:buChar char="•"/>
            </a:pPr>
            <a:endParaRPr lang="en-US" sz="2200" dirty="0"/>
          </a:p>
        </p:txBody>
      </p:sp>
      <p:pic>
        <p:nvPicPr>
          <p:cNvPr id="4" name="Graphic 3">
            <a:extLst>
              <a:ext uri="{FF2B5EF4-FFF2-40B4-BE49-F238E27FC236}">
                <a16:creationId xmlns:a16="http://schemas.microsoft.com/office/drawing/2014/main" id="{0E1A0FA6-08A9-49F9-FFF2-2C93D5F2AFE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02399" y="834154"/>
            <a:ext cx="1520829" cy="1536191"/>
          </a:xfrm>
          <a:prstGeom prst="rect">
            <a:avLst/>
          </a:prstGeom>
        </p:spPr>
      </p:pic>
    </p:spTree>
    <p:extLst>
      <p:ext uri="{BB962C8B-B14F-4D97-AF65-F5344CB8AC3E}">
        <p14:creationId xmlns:p14="http://schemas.microsoft.com/office/powerpoint/2010/main" val="2493235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8C4098-8143-B07F-7EBF-483BF8FDBF55}"/>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30F8D62-625A-4CD2-C1B8-1F1CDFA17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 name="Rectangle 25">
            <a:extLst>
              <a:ext uri="{FF2B5EF4-FFF2-40B4-BE49-F238E27FC236}">
                <a16:creationId xmlns:a16="http://schemas.microsoft.com/office/drawing/2014/main" id="{D29957BC-CFE5-62E6-34EB-121BC851C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CECFC9D8-F43B-8680-445F-750EDDB41D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D80638E4-44D9-0ADA-4D72-FF9E730A85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698F7028-1AC3-E094-3842-D7C14CE501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25191F2F-EE18-3F70-ED5C-EDF0B4AE74A1}"/>
              </a:ext>
            </a:extLst>
          </p:cNvPr>
          <p:cNvSpPr>
            <a:spLocks noGrp="1"/>
          </p:cNvSpPr>
          <p:nvPr>
            <p:ph type="ctrTitle"/>
          </p:nvPr>
        </p:nvSpPr>
        <p:spPr>
          <a:xfrm>
            <a:off x="-2" y="602533"/>
            <a:ext cx="7091300" cy="898581"/>
          </a:xfrm>
        </p:spPr>
        <p:txBody>
          <a:bodyPr anchor="ctr">
            <a:normAutofit/>
          </a:bodyPr>
          <a:lstStyle/>
          <a:p>
            <a:pPr algn="l"/>
            <a:r>
              <a:rPr lang="en-IN" sz="4000" dirty="0">
                <a:solidFill>
                  <a:schemeClr val="bg1"/>
                </a:solidFill>
                <a:latin typeface="Times New Roman" panose="02020603050405020304" pitchFamily="18" charset="0"/>
                <a:cs typeface="Times New Roman" panose="02020603050405020304" pitchFamily="18" charset="0"/>
              </a:rPr>
              <a:t>Cyclones in Odisha</a:t>
            </a:r>
            <a:endParaRPr lang="en-IN" sz="4000" dirty="0">
              <a:solidFill>
                <a:schemeClr val="bg1"/>
              </a:solidFill>
            </a:endParaRPr>
          </a:p>
        </p:txBody>
      </p:sp>
      <p:sp>
        <p:nvSpPr>
          <p:cNvPr id="3" name="Rectangle 1">
            <a:extLst>
              <a:ext uri="{FF2B5EF4-FFF2-40B4-BE49-F238E27FC236}">
                <a16:creationId xmlns:a16="http://schemas.microsoft.com/office/drawing/2014/main" id="{62FF7789-25C5-8D49-FE8D-DC35EC233847}"/>
              </a:ext>
            </a:extLst>
          </p:cNvPr>
          <p:cNvSpPr>
            <a:spLocks noGrp="1" noChangeArrowheads="1"/>
          </p:cNvSpPr>
          <p:nvPr>
            <p:ph type="subTitle" idx="1"/>
          </p:nvPr>
        </p:nvSpPr>
        <p:spPr bwMode="auto">
          <a:xfrm>
            <a:off x="0" y="2213919"/>
            <a:ext cx="5754414"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Geographical Context: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Odisha lies on 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eastern coast of India</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adjacent to 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Bay of Bengal</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region highly prone to tropical cyclones.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Historical Vulnerability:</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state has experienced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frequent and intense cyclones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including devastating events like: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Super Cyclone (1999)</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Cyclone Phailin (2013)</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Cyclone Fani (2019)</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Cyclone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Yaas</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(2021)</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4" name="TextBox 6">
            <a:extLst>
              <a:ext uri="{FF2B5EF4-FFF2-40B4-BE49-F238E27FC236}">
                <a16:creationId xmlns:a16="http://schemas.microsoft.com/office/drawing/2014/main" id="{D66CC8F0-3960-8BA5-564D-9B911488C26C}"/>
              </a:ext>
            </a:extLst>
          </p:cNvPr>
          <p:cNvGraphicFramePr/>
          <p:nvPr>
            <p:extLst>
              <p:ext uri="{D42A27DB-BD31-4B8C-83A1-F6EECF244321}">
                <p14:modId xmlns:p14="http://schemas.microsoft.com/office/powerpoint/2010/main" val="4181497896"/>
              </p:ext>
            </p:extLst>
          </p:nvPr>
        </p:nvGraphicFramePr>
        <p:xfrm>
          <a:off x="5754414" y="2213919"/>
          <a:ext cx="6437586" cy="39906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29278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6" name="Rectangle 25">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A82453-D873-B94C-D7CE-319DE8AE9001}"/>
              </a:ext>
            </a:extLst>
          </p:cNvPr>
          <p:cNvSpPr>
            <a:spLocks noGrp="1"/>
          </p:cNvSpPr>
          <p:nvPr>
            <p:ph type="ctrTitle"/>
          </p:nvPr>
        </p:nvSpPr>
        <p:spPr>
          <a:xfrm>
            <a:off x="699714" y="353160"/>
            <a:ext cx="7091300" cy="898581"/>
          </a:xfrm>
        </p:spPr>
        <p:txBody>
          <a:bodyPr anchor="ctr">
            <a:normAutofit/>
          </a:bodyPr>
          <a:lstStyle/>
          <a:p>
            <a:pPr algn="l"/>
            <a:r>
              <a:rPr lang="en-US" sz="4000" dirty="0">
                <a:solidFill>
                  <a:srgbClr val="FFFFFF"/>
                </a:solidFill>
                <a:latin typeface="Times New Roman" panose="02020603050405020304" pitchFamily="18" charset="0"/>
                <a:cs typeface="Times New Roman" panose="02020603050405020304" pitchFamily="18" charset="0"/>
              </a:rPr>
              <a:t>Methodology</a:t>
            </a:r>
            <a:endParaRPr lang="en-IN" sz="4000" dirty="0">
              <a:solidFill>
                <a:srgbClr val="FFFFFF"/>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80E9BB6-5B36-AE5B-580F-11C2882C326E}"/>
              </a:ext>
            </a:extLst>
          </p:cNvPr>
          <p:cNvPicPr>
            <a:picLocks noChangeAspect="1"/>
          </p:cNvPicPr>
          <p:nvPr/>
        </p:nvPicPr>
        <p:blipFill>
          <a:blip r:embed="rId3"/>
          <a:stretch>
            <a:fillRect/>
          </a:stretch>
        </p:blipFill>
        <p:spPr>
          <a:xfrm>
            <a:off x="3967225" y="3768104"/>
            <a:ext cx="7419303" cy="2198312"/>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65B8EC09-42EB-B6F7-86B6-57C98268B330}"/>
                  </a:ext>
                </a:extLst>
              </p:cNvPr>
              <p:cNvSpPr txBox="1"/>
              <p:nvPr/>
            </p:nvSpPr>
            <p:spPr>
              <a:xfrm>
                <a:off x="-19476" y="1730196"/>
                <a:ext cx="3844909" cy="4740208"/>
              </a:xfrm>
              <a:prstGeom prst="rect">
                <a:avLst/>
              </a:prstGeom>
              <a:noFill/>
              <a:ln>
                <a:solidFill>
                  <a:schemeClr val="tx1"/>
                </a:solidFill>
              </a:ln>
            </p:spPr>
            <p:txBody>
              <a:bodyPr wrap="square" rtlCol="0">
                <a:spAutoFit/>
              </a:bodyPr>
              <a:lstStyle/>
              <a:p>
                <a:pPr marL="342900" indent="-342900">
                  <a:lnSpc>
                    <a:spcPct val="115000"/>
                  </a:lnSpc>
                  <a:spcBef>
                    <a:spcPts val="2400"/>
                  </a:spcBef>
                  <a:buAutoNum type="arabicPeriod"/>
                </a:pPr>
                <a:r>
                  <a:rPr lang="en-US" sz="1600" b="1" kern="0"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Mean Squared Error (MSE)</a:t>
                </a:r>
                <a:endParaRPr lang="en-IN" sz="1600" b="1" kern="0" dirty="0">
                  <a:solidFill>
                    <a:schemeClr val="tx1"/>
                  </a:solidFill>
                  <a:latin typeface="Times New Roman" panose="02020603050405020304" pitchFamily="18" charset="0"/>
                  <a:ea typeface="MS Gothic" panose="020B0609070205080204" pitchFamily="49" charset="-128"/>
                  <a:cs typeface="Times New Roman" panose="02020603050405020304" pitchFamily="18" charset="0"/>
                </a:endParaRPr>
              </a:p>
              <a:p>
                <a:pPr>
                  <a:lnSpc>
                    <a:spcPct val="115000"/>
                  </a:lnSpc>
                  <a:spcBef>
                    <a:spcPts val="2400"/>
                  </a:spcBef>
                </a:pPr>
                <a14:m>
                  <m:oMathPara xmlns:m="http://schemas.openxmlformats.org/officeDocument/2006/math">
                    <m:oMathParaPr>
                      <m:jc m:val="centerGroup"/>
                    </m:oMathParaPr>
                    <m:oMath xmlns:m="http://schemas.openxmlformats.org/officeDocument/2006/math">
                      <m:r>
                        <a:rPr lang="en-US" sz="1600" b="1" i="1" kern="0">
                          <a:solidFill>
                            <a:schemeClr val="tx1"/>
                          </a:solidFill>
                          <a:latin typeface="Cambria Math" panose="02040503050406030204" pitchFamily="18" charset="0"/>
                        </a:rPr>
                        <m:t>𝑀</m:t>
                      </m:r>
                      <m:r>
                        <a:rPr lang="en-US" sz="1600" b="1" i="1" kern="0">
                          <a:solidFill>
                            <a:schemeClr val="tx1"/>
                          </a:solidFill>
                          <a:latin typeface="Cambria Math" panose="02040503050406030204" pitchFamily="18" charset="0"/>
                        </a:rPr>
                        <m:t>𝑺𝑬</m:t>
                      </m:r>
                      <m:r>
                        <a:rPr lang="en-US" sz="1600" b="1" i="1" kern="0">
                          <a:solidFill>
                            <a:schemeClr val="tx1"/>
                          </a:solidFill>
                          <a:latin typeface="Cambria Math" panose="02040503050406030204" pitchFamily="18" charset="0"/>
                        </a:rPr>
                        <m:t> </m:t>
                      </m:r>
                      <m:r>
                        <a:rPr lang="en-US" sz="1600" b="1" i="0" kern="0" smtClean="0">
                          <a:solidFill>
                            <a:schemeClr val="tx1"/>
                          </a:solidFill>
                          <a:effectLst/>
                          <a:latin typeface="Cambria Math" panose="02040503050406030204" pitchFamily="18" charset="0"/>
                        </a:rPr>
                        <m:t>=</m:t>
                      </m:r>
                      <m:f>
                        <m:fPr>
                          <m:type m:val="skw"/>
                          <m:ctrlPr>
                            <a:rPr lang="en-US" sz="1600" b="1" i="1" kern="0" smtClean="0">
                              <a:solidFill>
                                <a:schemeClr val="tx1"/>
                              </a:solidFill>
                              <a:effectLst/>
                              <a:latin typeface="Cambria Math" panose="02040503050406030204" pitchFamily="18" charset="0"/>
                            </a:rPr>
                          </m:ctrlPr>
                        </m:fPr>
                        <m:num>
                          <m:r>
                            <a:rPr lang="en-US" sz="1600" b="1" i="0" kern="0" smtClean="0">
                              <a:solidFill>
                                <a:schemeClr val="tx1"/>
                              </a:solidFill>
                              <a:effectLst/>
                              <a:latin typeface="Cambria Math" panose="02040503050406030204" pitchFamily="18" charset="0"/>
                            </a:rPr>
                            <m:t>1</m:t>
                          </m:r>
                        </m:num>
                        <m:den>
                          <m:r>
                            <a:rPr lang="en-US" sz="1600" b="1" i="1" kern="0" smtClean="0">
                              <a:solidFill>
                                <a:schemeClr val="tx1"/>
                              </a:solidFill>
                              <a:effectLst/>
                              <a:latin typeface="Cambria Math" panose="02040503050406030204" pitchFamily="18" charset="0"/>
                            </a:rPr>
                            <m:t>𝑛</m:t>
                          </m:r>
                        </m:den>
                      </m:f>
                      <m:nary>
                        <m:naryPr>
                          <m:chr m:val="∑"/>
                          <m:limLoc m:val="undOvr"/>
                          <m:grow m:val="on"/>
                          <m:ctrlPr>
                            <a:rPr lang="en-US" sz="1600" b="1" i="1" kern="0" smtClean="0">
                              <a:solidFill>
                                <a:schemeClr val="tx1"/>
                              </a:solidFill>
                              <a:effectLst/>
                              <a:latin typeface="Cambria Math" panose="02040503050406030204" pitchFamily="18" charset="0"/>
                            </a:rPr>
                          </m:ctrlPr>
                        </m:naryPr>
                        <m:sub>
                          <m:r>
                            <a:rPr lang="en-US" sz="1600" b="1" i="1" kern="0" smtClean="0">
                              <a:solidFill>
                                <a:schemeClr val="tx1"/>
                              </a:solidFill>
                              <a:effectLst/>
                              <a:latin typeface="Cambria Math" panose="02040503050406030204" pitchFamily="18" charset="0"/>
                            </a:rPr>
                            <m:t>𝑖</m:t>
                          </m:r>
                          <m:r>
                            <a:rPr lang="en-US" sz="1600" b="1" i="0" kern="0" smtClean="0">
                              <a:solidFill>
                                <a:schemeClr val="tx1"/>
                              </a:solidFill>
                              <a:effectLst/>
                              <a:latin typeface="Cambria Math" panose="02040503050406030204" pitchFamily="18" charset="0"/>
                            </a:rPr>
                            <m:t>=1</m:t>
                          </m:r>
                        </m:sub>
                        <m:sup>
                          <m:r>
                            <a:rPr lang="en-US" sz="1600" b="1" i="1" kern="0" smtClean="0">
                              <a:solidFill>
                                <a:schemeClr val="tx1"/>
                              </a:solidFill>
                              <a:effectLst/>
                              <a:latin typeface="Cambria Math" panose="02040503050406030204" pitchFamily="18" charset="0"/>
                            </a:rPr>
                            <m:t>𝑟</m:t>
                          </m:r>
                        </m:sup>
                        <m:e>
                          <m:sSup>
                            <m:sSupPr>
                              <m:ctrlPr>
                                <a:rPr lang="en-US" sz="1600" b="1" i="1" kern="0" smtClean="0">
                                  <a:solidFill>
                                    <a:schemeClr val="tx1"/>
                                  </a:solidFill>
                                  <a:effectLst/>
                                  <a:latin typeface="Cambria Math" panose="02040503050406030204" pitchFamily="18" charset="0"/>
                                </a:rPr>
                              </m:ctrlPr>
                            </m:sSupPr>
                            <m:e>
                              <m:d>
                                <m:dPr>
                                  <m:ctrlPr>
                                    <a:rPr lang="en-US" sz="1600" b="1" i="1" kern="0" smtClean="0">
                                      <a:solidFill>
                                        <a:schemeClr val="tx1"/>
                                      </a:solidFill>
                                      <a:effectLst/>
                                      <a:latin typeface="Cambria Math" panose="02040503050406030204" pitchFamily="18" charset="0"/>
                                    </a:rPr>
                                  </m:ctrlPr>
                                </m:dPr>
                                <m:e>
                                  <m:sSub>
                                    <m:sSubPr>
                                      <m:ctrlPr>
                                        <a:rPr lang="en-US" sz="1600" b="1" i="1" kern="0" smtClean="0">
                                          <a:solidFill>
                                            <a:schemeClr val="tx1"/>
                                          </a:solidFill>
                                          <a:effectLst/>
                                          <a:latin typeface="Cambria Math" panose="02040503050406030204" pitchFamily="18" charset="0"/>
                                        </a:rPr>
                                      </m:ctrlPr>
                                    </m:sSubPr>
                                    <m:e>
                                      <m:r>
                                        <a:rPr lang="en-US" sz="1600" b="1" i="1" kern="0" smtClean="0">
                                          <a:solidFill>
                                            <a:schemeClr val="tx1"/>
                                          </a:solidFill>
                                          <a:effectLst/>
                                          <a:latin typeface="Cambria Math" panose="02040503050406030204" pitchFamily="18" charset="0"/>
                                        </a:rPr>
                                        <m:t>𝑦</m:t>
                                      </m:r>
                                    </m:e>
                                    <m:sub>
                                      <m:r>
                                        <a:rPr lang="en-US" sz="1600" b="1" i="1" kern="0" smtClean="0">
                                          <a:solidFill>
                                            <a:schemeClr val="tx1"/>
                                          </a:solidFill>
                                          <a:effectLst/>
                                          <a:latin typeface="Cambria Math" panose="02040503050406030204" pitchFamily="18" charset="0"/>
                                        </a:rPr>
                                        <m:t>𝑅</m:t>
                                      </m:r>
                                    </m:sub>
                                  </m:sSub>
                                  <m:r>
                                    <a:rPr lang="en-US" sz="1600" b="1" i="0" kern="0" smtClean="0">
                                      <a:solidFill>
                                        <a:schemeClr val="tx1"/>
                                      </a:solidFill>
                                      <a:effectLst/>
                                      <a:latin typeface="Cambria Math" panose="02040503050406030204" pitchFamily="18" charset="0"/>
                                    </a:rPr>
                                    <m:t>−</m:t>
                                  </m:r>
                                  <m:sSub>
                                    <m:sSubPr>
                                      <m:ctrlPr>
                                        <a:rPr lang="en-US" sz="1600" b="1" i="1" kern="0" smtClean="0">
                                          <a:solidFill>
                                            <a:schemeClr val="tx1"/>
                                          </a:solidFill>
                                          <a:effectLst/>
                                          <a:latin typeface="Cambria Math" panose="02040503050406030204" pitchFamily="18" charset="0"/>
                                        </a:rPr>
                                      </m:ctrlPr>
                                    </m:sSubPr>
                                    <m:e>
                                      <m:r>
                                        <a:rPr lang="en-US" sz="1600" b="1" i="1" kern="0" smtClean="0">
                                          <a:solidFill>
                                            <a:schemeClr val="tx1"/>
                                          </a:solidFill>
                                          <a:effectLst/>
                                          <a:latin typeface="Cambria Math" panose="02040503050406030204" pitchFamily="18" charset="0"/>
                                        </a:rPr>
                                        <m:t>𝑦</m:t>
                                      </m:r>
                                    </m:e>
                                    <m:sub>
                                      <m:r>
                                        <a:rPr lang="en-US" sz="1600" b="1" i="1" kern="0" smtClean="0">
                                          <a:solidFill>
                                            <a:schemeClr val="tx1"/>
                                          </a:solidFill>
                                          <a:effectLst/>
                                          <a:latin typeface="Cambria Math" panose="02040503050406030204" pitchFamily="18" charset="0"/>
                                        </a:rPr>
                                        <m:t>𝐴</m:t>
                                      </m:r>
                                    </m:sub>
                                  </m:sSub>
                                </m:e>
                              </m:d>
                            </m:e>
                            <m:sup>
                              <m:r>
                                <a:rPr lang="en-US" sz="1600" b="1" i="0" kern="0" smtClean="0">
                                  <a:solidFill>
                                    <a:schemeClr val="tx1"/>
                                  </a:solidFill>
                                  <a:effectLst/>
                                  <a:latin typeface="Cambria Math" panose="02040503050406030204" pitchFamily="18" charset="0"/>
                                </a:rPr>
                                <m:t>2</m:t>
                              </m:r>
                            </m:sup>
                          </m:sSup>
                        </m:e>
                      </m:nary>
                      <m:r>
                        <a:rPr lang="en-US" sz="1600" b="1" i="1" kern="0" smtClean="0">
                          <a:solidFill>
                            <a:schemeClr val="tx1"/>
                          </a:solidFill>
                          <a:effectLst/>
                          <a:latin typeface="Cambria Math" panose="02040503050406030204" pitchFamily="18" charset="0"/>
                        </a:rPr>
                        <m:t> </m:t>
                      </m:r>
                    </m:oMath>
                  </m:oMathPara>
                </a14:m>
                <a:endParaRPr lang="en-US" sz="16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Bef>
                    <a:spcPts val="2400"/>
                  </a:spcBef>
                  <a:buNone/>
                </a:pPr>
                <a:r>
                  <a:rPr lang="en-US" sz="1600" b="1" kern="0"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2. Root Mean Squared Error (RMSE)</a:t>
                </a:r>
                <a:endParaRPr lang="en-IN" sz="1600" b="1" kern="0"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a:lnSpc>
                    <a:spcPct val="115000"/>
                  </a:lnSpc>
                  <a:spcBef>
                    <a:spcPts val="2400"/>
                  </a:spcBef>
                </a:pPr>
                <a14:m>
                  <m:oMathPara xmlns:m="http://schemas.openxmlformats.org/officeDocument/2006/math">
                    <m:oMathParaPr>
                      <m:jc m:val="centerGroup"/>
                    </m:oMathParaPr>
                    <m:oMath xmlns:m="http://schemas.openxmlformats.org/officeDocument/2006/math">
                      <m:r>
                        <a:rPr lang="en-US" sz="1600" b="1" i="1" kern="0">
                          <a:solidFill>
                            <a:schemeClr val="tx1"/>
                          </a:solidFill>
                          <a:latin typeface="Cambria Math" panose="02040503050406030204" pitchFamily="18" charset="0"/>
                        </a:rPr>
                        <m:t>𝑹</m:t>
                      </m:r>
                      <m:r>
                        <a:rPr lang="en-US" sz="1600" b="1" i="1" kern="0" smtClean="0">
                          <a:solidFill>
                            <a:schemeClr val="tx1"/>
                          </a:solidFill>
                          <a:latin typeface="Cambria Math" panose="02040503050406030204" pitchFamily="18" charset="0"/>
                        </a:rPr>
                        <m:t>𝑴𝑺𝑬</m:t>
                      </m:r>
                      <m:r>
                        <a:rPr lang="en-US" sz="1600" b="1" i="1" kern="0" smtClean="0">
                          <a:solidFill>
                            <a:schemeClr val="tx1"/>
                          </a:solidFill>
                          <a:latin typeface="Cambria Math" panose="02040503050406030204" pitchFamily="18" charset="0"/>
                        </a:rPr>
                        <m:t> </m:t>
                      </m:r>
                      <m:r>
                        <a:rPr lang="en-US" sz="1600" b="1" i="0" kern="0" smtClean="0">
                          <a:solidFill>
                            <a:schemeClr val="tx1"/>
                          </a:solidFill>
                          <a:effectLst/>
                          <a:latin typeface="Cambria Math" panose="02040503050406030204" pitchFamily="18" charset="0"/>
                        </a:rPr>
                        <m:t>=</m:t>
                      </m:r>
                      <m:rad>
                        <m:radPr>
                          <m:degHide m:val="on"/>
                          <m:ctrlPr>
                            <a:rPr lang="en-US" sz="1600" b="1" i="1" kern="0" smtClean="0">
                              <a:solidFill>
                                <a:schemeClr val="tx1"/>
                              </a:solidFill>
                              <a:effectLst/>
                              <a:latin typeface="Cambria Math" panose="02040503050406030204" pitchFamily="18" charset="0"/>
                            </a:rPr>
                          </m:ctrlPr>
                        </m:radPr>
                        <m:deg/>
                        <m:e>
                          <m:f>
                            <m:fPr>
                              <m:type m:val="skw"/>
                              <m:ctrlPr>
                                <a:rPr lang="en-US" sz="1600" b="1" i="1" kern="0">
                                  <a:solidFill>
                                    <a:schemeClr val="tx1"/>
                                  </a:solidFill>
                                  <a:latin typeface="Cambria Math" panose="02040503050406030204" pitchFamily="18" charset="0"/>
                                </a:rPr>
                              </m:ctrlPr>
                            </m:fPr>
                            <m:num>
                              <m:r>
                                <a:rPr lang="en-US" sz="1600" b="1" kern="0">
                                  <a:solidFill>
                                    <a:schemeClr val="tx1"/>
                                  </a:solidFill>
                                  <a:latin typeface="Cambria Math" panose="02040503050406030204" pitchFamily="18" charset="0"/>
                                </a:rPr>
                                <m:t>1</m:t>
                              </m:r>
                            </m:num>
                            <m:den>
                              <m:r>
                                <a:rPr lang="en-US" sz="1600" b="1" i="1" kern="0">
                                  <a:solidFill>
                                    <a:schemeClr val="tx1"/>
                                  </a:solidFill>
                                  <a:latin typeface="Cambria Math" panose="02040503050406030204" pitchFamily="18" charset="0"/>
                                </a:rPr>
                                <m:t>𝑛</m:t>
                              </m:r>
                            </m:den>
                          </m:f>
                          <m:nary>
                            <m:naryPr>
                              <m:chr m:val="∑"/>
                              <m:limLoc m:val="undOvr"/>
                              <m:grow m:val="on"/>
                              <m:ctrlPr>
                                <a:rPr lang="en-US" sz="1600" b="1" i="1" kern="0">
                                  <a:solidFill>
                                    <a:schemeClr val="tx1"/>
                                  </a:solidFill>
                                  <a:latin typeface="Cambria Math" panose="02040503050406030204" pitchFamily="18" charset="0"/>
                                </a:rPr>
                              </m:ctrlPr>
                            </m:naryPr>
                            <m:sub>
                              <m:r>
                                <a:rPr lang="en-US" sz="1600" b="1" i="1" kern="0">
                                  <a:solidFill>
                                    <a:schemeClr val="tx1"/>
                                  </a:solidFill>
                                  <a:latin typeface="Cambria Math" panose="02040503050406030204" pitchFamily="18" charset="0"/>
                                </a:rPr>
                                <m:t>𝑖</m:t>
                              </m:r>
                              <m:r>
                                <a:rPr lang="en-US" sz="1600" b="1" kern="0">
                                  <a:solidFill>
                                    <a:schemeClr val="tx1"/>
                                  </a:solidFill>
                                  <a:latin typeface="Cambria Math" panose="02040503050406030204" pitchFamily="18" charset="0"/>
                                </a:rPr>
                                <m:t>=1</m:t>
                              </m:r>
                            </m:sub>
                            <m:sup>
                              <m:r>
                                <a:rPr lang="en-US" sz="1600" b="1" i="1" kern="0">
                                  <a:solidFill>
                                    <a:schemeClr val="tx1"/>
                                  </a:solidFill>
                                  <a:latin typeface="Cambria Math" panose="02040503050406030204" pitchFamily="18" charset="0"/>
                                </a:rPr>
                                <m:t>𝑟</m:t>
                              </m:r>
                            </m:sup>
                            <m:e>
                              <m:sSup>
                                <m:sSupPr>
                                  <m:ctrlPr>
                                    <a:rPr lang="en-US" sz="1600" b="1" i="1" kern="0">
                                      <a:solidFill>
                                        <a:schemeClr val="tx1"/>
                                      </a:solidFill>
                                      <a:latin typeface="Cambria Math" panose="02040503050406030204" pitchFamily="18" charset="0"/>
                                    </a:rPr>
                                  </m:ctrlPr>
                                </m:sSupPr>
                                <m:e>
                                  <m:d>
                                    <m:dPr>
                                      <m:ctrlPr>
                                        <a:rPr lang="en-US" sz="1600" b="1" i="1" kern="0">
                                          <a:solidFill>
                                            <a:schemeClr val="tx1"/>
                                          </a:solidFill>
                                          <a:latin typeface="Cambria Math" panose="02040503050406030204" pitchFamily="18" charset="0"/>
                                        </a:rPr>
                                      </m:ctrlPr>
                                    </m:dPr>
                                    <m:e>
                                      <m:sSub>
                                        <m:sSubPr>
                                          <m:ctrlPr>
                                            <a:rPr lang="en-US" sz="1600" b="1" i="1" kern="0">
                                              <a:solidFill>
                                                <a:schemeClr val="tx1"/>
                                              </a:solidFill>
                                              <a:latin typeface="Cambria Math" panose="02040503050406030204" pitchFamily="18" charset="0"/>
                                            </a:rPr>
                                          </m:ctrlPr>
                                        </m:sSubPr>
                                        <m:e>
                                          <m:r>
                                            <a:rPr lang="en-US" sz="1600" b="1" i="1" kern="0">
                                              <a:solidFill>
                                                <a:schemeClr val="tx1"/>
                                              </a:solidFill>
                                              <a:latin typeface="Cambria Math" panose="02040503050406030204" pitchFamily="18" charset="0"/>
                                            </a:rPr>
                                            <m:t>𝑦</m:t>
                                          </m:r>
                                        </m:e>
                                        <m:sub>
                                          <m:r>
                                            <a:rPr lang="en-US" sz="1600" b="1" i="1" kern="0">
                                              <a:solidFill>
                                                <a:schemeClr val="tx1"/>
                                              </a:solidFill>
                                              <a:latin typeface="Cambria Math" panose="02040503050406030204" pitchFamily="18" charset="0"/>
                                            </a:rPr>
                                            <m:t>𝑅</m:t>
                                          </m:r>
                                        </m:sub>
                                      </m:sSub>
                                      <m:r>
                                        <a:rPr lang="en-US" sz="1600" b="1" kern="0">
                                          <a:solidFill>
                                            <a:schemeClr val="tx1"/>
                                          </a:solidFill>
                                          <a:latin typeface="Cambria Math" panose="02040503050406030204" pitchFamily="18" charset="0"/>
                                        </a:rPr>
                                        <m:t>−</m:t>
                                      </m:r>
                                      <m:sSub>
                                        <m:sSubPr>
                                          <m:ctrlPr>
                                            <a:rPr lang="en-US" sz="1600" b="1" i="1" kern="0">
                                              <a:solidFill>
                                                <a:schemeClr val="tx1"/>
                                              </a:solidFill>
                                              <a:latin typeface="Cambria Math" panose="02040503050406030204" pitchFamily="18" charset="0"/>
                                            </a:rPr>
                                          </m:ctrlPr>
                                        </m:sSubPr>
                                        <m:e>
                                          <m:r>
                                            <a:rPr lang="en-US" sz="1600" b="1" i="1" kern="0">
                                              <a:solidFill>
                                                <a:schemeClr val="tx1"/>
                                              </a:solidFill>
                                              <a:latin typeface="Cambria Math" panose="02040503050406030204" pitchFamily="18" charset="0"/>
                                            </a:rPr>
                                            <m:t>𝑦</m:t>
                                          </m:r>
                                        </m:e>
                                        <m:sub>
                                          <m:r>
                                            <a:rPr lang="en-US" sz="1600" b="1" i="1" kern="0">
                                              <a:solidFill>
                                                <a:schemeClr val="tx1"/>
                                              </a:solidFill>
                                              <a:latin typeface="Cambria Math" panose="02040503050406030204" pitchFamily="18" charset="0"/>
                                            </a:rPr>
                                            <m:t>𝐴</m:t>
                                          </m:r>
                                        </m:sub>
                                      </m:sSub>
                                    </m:e>
                                  </m:d>
                                </m:e>
                                <m:sup>
                                  <m:r>
                                    <a:rPr lang="en-US" sz="1600" b="1" kern="0">
                                      <a:solidFill>
                                        <a:schemeClr val="tx1"/>
                                      </a:solidFill>
                                      <a:latin typeface="Cambria Math" panose="02040503050406030204" pitchFamily="18" charset="0"/>
                                    </a:rPr>
                                    <m:t>2</m:t>
                                  </m:r>
                                </m:sup>
                              </m:sSup>
                            </m:e>
                          </m:nary>
                        </m:e>
                      </m:rad>
                    </m:oMath>
                  </m:oMathPara>
                </a14:m>
                <a:endParaRPr lang="en-US" sz="1600" dirty="0">
                  <a:effectLst/>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Bef>
                    <a:spcPts val="2400"/>
                  </a:spcBef>
                  <a:buNone/>
                </a:pPr>
                <a:r>
                  <a:rPr lang="en-US" sz="1600" b="1" kern="0" dirty="0">
                    <a:effectLst/>
                    <a:latin typeface="Times New Roman" panose="02020603050405020304" pitchFamily="18" charset="0"/>
                    <a:ea typeface="MS Gothic" panose="020B0609070205080204" pitchFamily="49" charset="-128"/>
                    <a:cs typeface="Times New Roman" panose="02020603050405020304" pitchFamily="18" charset="0"/>
                  </a:rPr>
                  <a:t>3. Coefficient of Determination (R²)</a:t>
                </a:r>
                <a:endParaRPr lang="en-IN" sz="1600" b="1" kern="0" dirty="0">
                  <a:effectLst/>
                  <a:latin typeface="Times New Roman" panose="02020603050405020304" pitchFamily="18" charset="0"/>
                  <a:ea typeface="MS Gothic" panose="020B0609070205080204" pitchFamily="49" charset="-128"/>
                  <a:cs typeface="Times New Roman" panose="02020603050405020304" pitchFamily="18" charset="0"/>
                </a:endParaRPr>
              </a:p>
              <a:p>
                <a:pPr>
                  <a:lnSpc>
                    <a:spcPct val="115000"/>
                  </a:lnSpc>
                  <a:spcAft>
                    <a:spcPts val="1000"/>
                  </a:spcAft>
                  <a:buNone/>
                </a:pPr>
                <a14:m>
                  <m:oMathPara xmlns:m="http://schemas.openxmlformats.org/officeDocument/2006/math">
                    <m:oMathParaPr>
                      <m:jc m:val="centerGroup"/>
                    </m:oMathParaPr>
                    <m:oMath xmlns:m="http://schemas.openxmlformats.org/officeDocument/2006/math">
                      <m:sSup>
                        <m:sSupPr>
                          <m:ctrlPr>
                            <a:rPr lang="en-IN" sz="1600" b="1" i="1" dirty="0" smtClean="0">
                              <a:solidFill>
                                <a:srgbClr val="836967"/>
                              </a:solidFill>
                              <a:effectLst/>
                              <a:latin typeface="Cambria Math" panose="02040503050406030204" pitchFamily="18" charset="0"/>
                            </a:rPr>
                          </m:ctrlPr>
                        </m:sSupPr>
                        <m:e>
                          <m:r>
                            <a:rPr lang="en-IN" sz="1600" b="1" i="1" dirty="0">
                              <a:effectLst/>
                              <a:latin typeface="Cambria Math" panose="02040503050406030204" pitchFamily="18" charset="0"/>
                            </a:rPr>
                            <m:t>𝑹</m:t>
                          </m:r>
                        </m:e>
                        <m:sup>
                          <m:r>
                            <a:rPr lang="en-IN" sz="1600" b="1" i="0" dirty="0">
                              <a:effectLst/>
                              <a:latin typeface="Cambria Math" panose="02040503050406030204" pitchFamily="18" charset="0"/>
                            </a:rPr>
                            <m:t>𝟐</m:t>
                          </m:r>
                        </m:sup>
                      </m:sSup>
                      <m:r>
                        <a:rPr lang="en-IN" sz="1600" b="1" i="0" dirty="0">
                          <a:effectLst/>
                          <a:latin typeface="Cambria Math" panose="02040503050406030204" pitchFamily="18" charset="0"/>
                        </a:rPr>
                        <m:t>=</m:t>
                      </m:r>
                      <m:r>
                        <a:rPr lang="en-IN" sz="1600" b="1" i="0" dirty="0">
                          <a:effectLst/>
                          <a:latin typeface="Cambria Math" panose="02040503050406030204" pitchFamily="18" charset="0"/>
                        </a:rPr>
                        <m:t>𝟏</m:t>
                      </m:r>
                      <m:r>
                        <a:rPr lang="en-IN" sz="1600" b="1" i="0" dirty="0">
                          <a:effectLst/>
                          <a:latin typeface="Cambria Math" panose="02040503050406030204" pitchFamily="18" charset="0"/>
                        </a:rPr>
                        <m:t>−</m:t>
                      </m:r>
                      <m:f>
                        <m:fPr>
                          <m:ctrlPr>
                            <a:rPr lang="en-IN" sz="1600" b="1" i="1" dirty="0">
                              <a:solidFill>
                                <a:srgbClr val="836967"/>
                              </a:solidFill>
                              <a:effectLst/>
                              <a:latin typeface="Cambria Math" panose="02040503050406030204" pitchFamily="18" charset="0"/>
                            </a:rPr>
                          </m:ctrlPr>
                        </m:fPr>
                        <m:num>
                          <m:sSubSup>
                            <m:sSubSupPr>
                              <m:ctrlPr>
                                <a:rPr lang="en-IN" sz="1600" b="1" i="1" dirty="0">
                                  <a:solidFill>
                                    <a:srgbClr val="836967"/>
                                  </a:solidFill>
                                  <a:effectLst/>
                                  <a:latin typeface="Cambria Math" panose="02040503050406030204" pitchFamily="18" charset="0"/>
                                </a:rPr>
                              </m:ctrlPr>
                            </m:sSubSupPr>
                            <m:e>
                              <m:r>
                                <a:rPr lang="en-IN" sz="1600" b="1" i="1" dirty="0">
                                  <a:effectLst/>
                                  <a:latin typeface="Cambria Math" panose="02040503050406030204" pitchFamily="18" charset="0"/>
                                </a:rPr>
                                <m:t>𝜮</m:t>
                              </m:r>
                            </m:e>
                            <m:sub>
                              <m:r>
                                <a:rPr lang="en-IN" sz="1600" b="1" i="1" dirty="0">
                                  <a:effectLst/>
                                  <a:latin typeface="Cambria Math" panose="02040503050406030204" pitchFamily="18" charset="0"/>
                                </a:rPr>
                                <m:t>𝒊</m:t>
                              </m:r>
                              <m:r>
                                <a:rPr lang="en-US" sz="1600" b="1" i="1" dirty="0" smtClean="0">
                                  <a:effectLst/>
                                  <a:latin typeface="Cambria Math" panose="02040503050406030204" pitchFamily="18" charset="0"/>
                                </a:rPr>
                                <m:t>=</m:t>
                              </m:r>
                              <m:r>
                                <a:rPr lang="en-US" sz="1600" b="1" i="1" dirty="0" smtClean="0">
                                  <a:effectLst/>
                                  <a:latin typeface="Cambria Math" panose="02040503050406030204" pitchFamily="18" charset="0"/>
                                </a:rPr>
                                <m:t>𝟏</m:t>
                              </m:r>
                            </m:sub>
                            <m:sup>
                              <m:r>
                                <a:rPr lang="en-IN" sz="1600" b="1" i="1" dirty="0">
                                  <a:effectLst/>
                                  <a:latin typeface="Cambria Math" panose="02040503050406030204" pitchFamily="18" charset="0"/>
                                </a:rPr>
                                <m:t>𝒏</m:t>
                              </m:r>
                            </m:sup>
                          </m:sSubSup>
                          <m:sSup>
                            <m:sSupPr>
                              <m:ctrlPr>
                                <a:rPr lang="en-US" sz="1600" b="1" i="1" kern="0">
                                  <a:latin typeface="Cambria Math" panose="02040503050406030204" pitchFamily="18" charset="0"/>
                                </a:rPr>
                              </m:ctrlPr>
                            </m:sSupPr>
                            <m:e>
                              <m:d>
                                <m:dPr>
                                  <m:ctrlPr>
                                    <a:rPr lang="en-US" sz="1600" b="1" i="1" kern="0">
                                      <a:latin typeface="Cambria Math" panose="02040503050406030204" pitchFamily="18" charset="0"/>
                                    </a:rPr>
                                  </m:ctrlPr>
                                </m:dPr>
                                <m:e>
                                  <m:sSub>
                                    <m:sSubPr>
                                      <m:ctrlPr>
                                        <a:rPr lang="en-US" sz="1600" b="1" i="1" kern="0">
                                          <a:latin typeface="Cambria Math" panose="02040503050406030204" pitchFamily="18" charset="0"/>
                                        </a:rPr>
                                      </m:ctrlPr>
                                    </m:sSubPr>
                                    <m:e>
                                      <m:r>
                                        <a:rPr lang="en-US" sz="1600" b="1" i="1" kern="0">
                                          <a:latin typeface="Cambria Math" panose="02040503050406030204" pitchFamily="18" charset="0"/>
                                        </a:rPr>
                                        <m:t>𝒚</m:t>
                                      </m:r>
                                    </m:e>
                                    <m:sub>
                                      <m:r>
                                        <a:rPr lang="en-US" sz="1600" b="1" i="1" kern="0">
                                          <a:latin typeface="Cambria Math" panose="02040503050406030204" pitchFamily="18" charset="0"/>
                                        </a:rPr>
                                        <m:t>𝑹</m:t>
                                      </m:r>
                                    </m:sub>
                                  </m:sSub>
                                  <m:r>
                                    <a:rPr lang="en-US" sz="1600" b="1" kern="0">
                                      <a:latin typeface="Cambria Math" panose="02040503050406030204" pitchFamily="18" charset="0"/>
                                    </a:rPr>
                                    <m:t>−</m:t>
                                  </m:r>
                                  <m:sSub>
                                    <m:sSubPr>
                                      <m:ctrlPr>
                                        <a:rPr lang="en-US" sz="1600" b="1" i="1" kern="0">
                                          <a:latin typeface="Cambria Math" panose="02040503050406030204" pitchFamily="18" charset="0"/>
                                        </a:rPr>
                                      </m:ctrlPr>
                                    </m:sSubPr>
                                    <m:e>
                                      <m:r>
                                        <a:rPr lang="en-US" sz="1600" b="1" i="1" kern="0">
                                          <a:latin typeface="Cambria Math" panose="02040503050406030204" pitchFamily="18" charset="0"/>
                                        </a:rPr>
                                        <m:t>𝒚</m:t>
                                      </m:r>
                                    </m:e>
                                    <m:sub>
                                      <m:r>
                                        <a:rPr lang="en-US" sz="1600" b="1" i="1" kern="0">
                                          <a:latin typeface="Cambria Math" panose="02040503050406030204" pitchFamily="18" charset="0"/>
                                        </a:rPr>
                                        <m:t>𝑨</m:t>
                                      </m:r>
                                    </m:sub>
                                  </m:sSub>
                                </m:e>
                              </m:d>
                            </m:e>
                            <m:sup>
                              <m:r>
                                <a:rPr lang="en-US" sz="1600" b="1" i="1" kern="0">
                                  <a:latin typeface="Cambria Math" panose="02040503050406030204" pitchFamily="18" charset="0"/>
                                </a:rPr>
                                <m:t>𝟐</m:t>
                              </m:r>
                            </m:sup>
                          </m:sSup>
                        </m:num>
                        <m:den>
                          <m:sSubSup>
                            <m:sSubSupPr>
                              <m:ctrlPr>
                                <a:rPr lang="en-IN" sz="1600" b="1" i="1" dirty="0">
                                  <a:solidFill>
                                    <a:srgbClr val="836967"/>
                                  </a:solidFill>
                                  <a:latin typeface="Cambria Math" panose="02040503050406030204" pitchFamily="18" charset="0"/>
                                </a:rPr>
                              </m:ctrlPr>
                            </m:sSubSupPr>
                            <m:e>
                              <m:r>
                                <a:rPr lang="en-IN" sz="1600" b="1" i="1" dirty="0">
                                  <a:latin typeface="Cambria Math" panose="02040503050406030204" pitchFamily="18" charset="0"/>
                                </a:rPr>
                                <m:t>𝜮</m:t>
                              </m:r>
                            </m:e>
                            <m:sub>
                              <m:r>
                                <a:rPr lang="en-IN" sz="1600" b="1" i="1" dirty="0">
                                  <a:latin typeface="Cambria Math" panose="02040503050406030204" pitchFamily="18" charset="0"/>
                                </a:rPr>
                                <m:t>𝒊</m:t>
                              </m:r>
                              <m:r>
                                <a:rPr lang="en-US" sz="1600" b="1" i="1" dirty="0">
                                  <a:latin typeface="Cambria Math" panose="02040503050406030204" pitchFamily="18" charset="0"/>
                                </a:rPr>
                                <m:t>=</m:t>
                              </m:r>
                              <m:r>
                                <a:rPr lang="en-US" sz="1600" b="1" i="1" dirty="0">
                                  <a:latin typeface="Cambria Math" panose="02040503050406030204" pitchFamily="18" charset="0"/>
                                </a:rPr>
                                <m:t>𝟏</m:t>
                              </m:r>
                            </m:sub>
                            <m:sup>
                              <m:r>
                                <a:rPr lang="en-IN" sz="1600" b="1" i="1" dirty="0">
                                  <a:latin typeface="Cambria Math" panose="02040503050406030204" pitchFamily="18" charset="0"/>
                                </a:rPr>
                                <m:t>𝒏</m:t>
                              </m:r>
                            </m:sup>
                          </m:sSubSup>
                          <m:sSup>
                            <m:sSupPr>
                              <m:ctrlPr>
                                <a:rPr lang="en-US" sz="1600" b="1" i="1" kern="0">
                                  <a:latin typeface="Cambria Math" panose="02040503050406030204" pitchFamily="18" charset="0"/>
                                </a:rPr>
                              </m:ctrlPr>
                            </m:sSupPr>
                            <m:e>
                              <m:d>
                                <m:dPr>
                                  <m:ctrlPr>
                                    <a:rPr lang="en-US" sz="1600" b="1" i="1" kern="0">
                                      <a:latin typeface="Cambria Math" panose="02040503050406030204" pitchFamily="18" charset="0"/>
                                    </a:rPr>
                                  </m:ctrlPr>
                                </m:dPr>
                                <m:e>
                                  <m:sSub>
                                    <m:sSubPr>
                                      <m:ctrlPr>
                                        <a:rPr lang="en-US" sz="1600" b="1" i="1" kern="0">
                                          <a:latin typeface="Cambria Math" panose="02040503050406030204" pitchFamily="18" charset="0"/>
                                        </a:rPr>
                                      </m:ctrlPr>
                                    </m:sSubPr>
                                    <m:e>
                                      <m:r>
                                        <a:rPr lang="en-US" sz="1600" b="1" i="1" kern="0">
                                          <a:latin typeface="Cambria Math" panose="02040503050406030204" pitchFamily="18" charset="0"/>
                                        </a:rPr>
                                        <m:t>𝒚</m:t>
                                      </m:r>
                                    </m:e>
                                    <m:sub>
                                      <m:r>
                                        <a:rPr lang="en-US" sz="1600" b="1" i="1" kern="0">
                                          <a:latin typeface="Cambria Math" panose="02040503050406030204" pitchFamily="18" charset="0"/>
                                        </a:rPr>
                                        <m:t>𝑹</m:t>
                                      </m:r>
                                    </m:sub>
                                  </m:sSub>
                                  <m:r>
                                    <a:rPr lang="en-US" sz="1600" b="1" kern="0">
                                      <a:latin typeface="Cambria Math" panose="02040503050406030204" pitchFamily="18" charset="0"/>
                                    </a:rPr>
                                    <m:t>−</m:t>
                                  </m:r>
                                  <m:acc>
                                    <m:accPr>
                                      <m:chr m:val="̅"/>
                                      <m:ctrlPr>
                                        <a:rPr lang="en-US" sz="1600" b="1" i="1" kern="0" smtClean="0">
                                          <a:solidFill>
                                            <a:srgbClr val="836967"/>
                                          </a:solidFill>
                                          <a:latin typeface="Cambria Math" panose="02040503050406030204" pitchFamily="18" charset="0"/>
                                        </a:rPr>
                                      </m:ctrlPr>
                                    </m:accPr>
                                    <m:e>
                                      <m:r>
                                        <a:rPr lang="en-US" sz="1600" b="1" i="1" kern="0">
                                          <a:latin typeface="Cambria Math" panose="02040503050406030204" pitchFamily="18" charset="0"/>
                                        </a:rPr>
                                        <m:t>𝒚</m:t>
                                      </m:r>
                                    </m:e>
                                  </m:acc>
                                  <m:r>
                                    <a:rPr lang="en-US" sz="1600" b="1" i="1" kern="0">
                                      <a:latin typeface="Cambria Math" panose="02040503050406030204" pitchFamily="18" charset="0"/>
                                    </a:rPr>
                                    <m:t>𝑹</m:t>
                                  </m:r>
                                </m:e>
                              </m:d>
                            </m:e>
                            <m:sup>
                              <m:r>
                                <a:rPr lang="en-US" sz="1600" b="1" i="1" kern="0">
                                  <a:latin typeface="Cambria Math" panose="02040503050406030204" pitchFamily="18" charset="0"/>
                                </a:rPr>
                                <m:t>𝟐</m:t>
                              </m:r>
                            </m:sup>
                          </m:sSup>
                        </m:den>
                      </m:f>
                    </m:oMath>
                  </m:oMathPara>
                </a14:m>
                <a:endParaRPr lang="en-IN" sz="1600" b="1" dirty="0">
                  <a:effectLst/>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Aft>
                    <a:spcPts val="1000"/>
                  </a:spcAft>
                </a:pPr>
                <a:r>
                  <a:rPr lang="en-US" sz="800" b="0" i="0" dirty="0">
                    <a:latin typeface="Times New Roman" panose="02020603050405020304" pitchFamily="18" charset="0"/>
                    <a:cs typeface="Times New Roman" panose="02020603050405020304" pitchFamily="18" charset="0"/>
                  </a:rPr>
                  <a:t>Wei, M., Fang, G., Nikitas, N., &amp; Ge, Y. (2024). Machine-learning-based tropical cyclone wind field model incorporating multiple meteorological parameters</a:t>
                </a:r>
              </a:p>
              <a:p>
                <a:pPr>
                  <a:lnSpc>
                    <a:spcPct val="115000"/>
                  </a:lnSpc>
                  <a:spcAft>
                    <a:spcPts val="1000"/>
                  </a:spcAft>
                </a:pPr>
                <a:endParaRPr lang="en-IN" sz="800" dirty="0"/>
              </a:p>
            </p:txBody>
          </p:sp>
        </mc:Choice>
        <mc:Fallback>
          <p:sp>
            <p:nvSpPr>
              <p:cNvPr id="6" name="TextBox 5">
                <a:extLst>
                  <a:ext uri="{FF2B5EF4-FFF2-40B4-BE49-F238E27FC236}">
                    <a16:creationId xmlns:a16="http://schemas.microsoft.com/office/drawing/2014/main" id="{65B8EC09-42EB-B6F7-86B6-57C98268B330}"/>
                  </a:ext>
                </a:extLst>
              </p:cNvPr>
              <p:cNvSpPr txBox="1">
                <a:spLocks noRot="1" noChangeAspect="1" noMove="1" noResize="1" noEditPoints="1" noAdjustHandles="1" noChangeArrowheads="1" noChangeShapeType="1" noTextEdit="1"/>
              </p:cNvSpPr>
              <p:nvPr/>
            </p:nvSpPr>
            <p:spPr>
              <a:xfrm>
                <a:off x="-19476" y="1730196"/>
                <a:ext cx="3844909" cy="4740208"/>
              </a:xfrm>
              <a:prstGeom prst="rect">
                <a:avLst/>
              </a:prstGeom>
              <a:blipFill>
                <a:blip r:embed="rId4"/>
                <a:stretch>
                  <a:fillRect l="-790"/>
                </a:stretch>
              </a:blipFill>
              <a:ln>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94DF6C0-48EC-7900-0710-C7D5A7C59D2B}"/>
                  </a:ext>
                </a:extLst>
              </p:cNvPr>
              <p:cNvSpPr txBox="1"/>
              <p:nvPr/>
            </p:nvSpPr>
            <p:spPr>
              <a:xfrm>
                <a:off x="3825433" y="1730196"/>
                <a:ext cx="8366567" cy="1904239"/>
              </a:xfrm>
              <a:prstGeom prst="rect">
                <a:avLst/>
              </a:prstGeom>
              <a:noFill/>
              <a:ln>
                <a:solidFill>
                  <a:schemeClr val="tx1"/>
                </a:solidFill>
              </a:ln>
            </p:spPr>
            <p:txBody>
              <a:bodyPr wrap="square" rtlCol="0">
                <a:spAutoFit/>
              </a:bodyPr>
              <a:lstStyle/>
              <a:p>
                <a:pPr>
                  <a:buNone/>
                </a:pPr>
                <a:r>
                  <a:rPr lang="en-IN" sz="1600" b="1" dirty="0">
                    <a:latin typeface="Times New Roman" panose="02020603050405020304" pitchFamily="18" charset="0"/>
                    <a:cs typeface="Times New Roman" panose="02020603050405020304" pitchFamily="18" charset="0"/>
                  </a:rPr>
                  <a:t>Empirical Wind–Pressure Relationship</a:t>
                </a:r>
              </a:p>
              <a:p>
                <a14:m>
                  <m:oMath xmlns:m="http://schemas.openxmlformats.org/officeDocument/2006/math">
                    <m:sSub>
                      <m:sSubPr>
                        <m:ctrlPr>
                          <a:rPr lang="en-IN" sz="1600" b="1" i="1" dirty="0" smtClean="0">
                            <a:solidFill>
                              <a:srgbClr val="836967"/>
                            </a:solidFill>
                            <a:latin typeface="Cambria Math" panose="02040503050406030204" pitchFamily="18" charset="0"/>
                          </a:rPr>
                        </m:ctrlPr>
                      </m:sSubPr>
                      <m:e>
                        <m:r>
                          <a:rPr lang="en-US" sz="1600" b="1" i="1" dirty="0" smtClean="0">
                            <a:latin typeface="Cambria Math" panose="02040503050406030204" pitchFamily="18" charset="0"/>
                          </a:rPr>
                          <m:t>𝑽</m:t>
                        </m:r>
                      </m:e>
                      <m:sub>
                        <m:r>
                          <a:rPr lang="en-IN" sz="1600" b="1" i="1" dirty="0">
                            <a:latin typeface="Cambria Math" panose="02040503050406030204" pitchFamily="18" charset="0"/>
                          </a:rPr>
                          <m:t>𝒎𝒂</m:t>
                        </m:r>
                        <m:r>
                          <a:rPr lang="en-US" sz="1600" b="1" i="1" dirty="0" smtClean="0">
                            <a:latin typeface="Cambria Math" panose="02040503050406030204" pitchFamily="18" charset="0"/>
                          </a:rPr>
                          <m:t>𝒙</m:t>
                        </m:r>
                      </m:sub>
                    </m:sSub>
                    <m:r>
                      <a:rPr lang="en-IN" sz="1600" b="1" i="0" dirty="0">
                        <a:latin typeface="Cambria Math" panose="02040503050406030204" pitchFamily="18" charset="0"/>
                      </a:rPr>
                      <m:t>=</m:t>
                    </m:r>
                    <m:r>
                      <a:rPr lang="en-US" sz="1600" b="1" i="0" dirty="0" smtClean="0">
                        <a:latin typeface="Cambria Math" panose="02040503050406030204" pitchFamily="18" charset="0"/>
                      </a:rPr>
                      <m:t>𝐂</m:t>
                    </m:r>
                  </m:oMath>
                </a14:m>
                <a:r>
                  <a:rPr lang="en-US" sz="1600" b="1" kern="0"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en-US" sz="1600" b="1" i="1" kern="0">
                            <a:latin typeface="Cambria Math" panose="02040503050406030204" pitchFamily="18" charset="0"/>
                          </a:rPr>
                        </m:ctrlPr>
                      </m:sSupPr>
                      <m:e>
                        <m:d>
                          <m:dPr>
                            <m:ctrlPr>
                              <a:rPr lang="en-US" sz="1600" b="1" i="1" kern="0">
                                <a:latin typeface="Cambria Math" panose="02040503050406030204" pitchFamily="18" charset="0"/>
                              </a:rPr>
                            </m:ctrlPr>
                          </m:dPr>
                          <m:e>
                            <m:sSub>
                              <m:sSubPr>
                                <m:ctrlPr>
                                  <a:rPr lang="en-US" sz="1600" b="1" i="1" kern="0">
                                    <a:latin typeface="Cambria Math" panose="02040503050406030204" pitchFamily="18" charset="0"/>
                                  </a:rPr>
                                </m:ctrlPr>
                              </m:sSubPr>
                              <m:e>
                                <m:r>
                                  <a:rPr lang="en-US" sz="1600" b="1" i="1" kern="0" smtClean="0">
                                    <a:latin typeface="Cambria Math" panose="02040503050406030204" pitchFamily="18" charset="0"/>
                                  </a:rPr>
                                  <m:t>𝑷</m:t>
                                </m:r>
                              </m:e>
                              <m:sub>
                                <m:r>
                                  <a:rPr lang="en-US" sz="1600" b="1" i="1" kern="0" smtClean="0">
                                    <a:latin typeface="Cambria Math" panose="02040503050406030204" pitchFamily="18" charset="0"/>
                                  </a:rPr>
                                  <m:t>𝒓𝒆𝒇</m:t>
                                </m:r>
                              </m:sub>
                            </m:sSub>
                            <m:r>
                              <a:rPr lang="en-US" sz="1600" b="1" kern="0">
                                <a:latin typeface="Cambria Math" panose="02040503050406030204" pitchFamily="18" charset="0"/>
                              </a:rPr>
                              <m:t>−</m:t>
                            </m:r>
                            <m:sSub>
                              <m:sSubPr>
                                <m:ctrlPr>
                                  <a:rPr lang="en-US" sz="1600" b="1" i="1" kern="0">
                                    <a:latin typeface="Cambria Math" panose="02040503050406030204" pitchFamily="18" charset="0"/>
                                  </a:rPr>
                                </m:ctrlPr>
                              </m:sSubPr>
                              <m:e>
                                <m:r>
                                  <a:rPr lang="en-US" sz="1600" b="1" i="1" kern="0" smtClean="0">
                                    <a:latin typeface="Cambria Math" panose="02040503050406030204" pitchFamily="18" charset="0"/>
                                  </a:rPr>
                                  <m:t>𝑷</m:t>
                                </m:r>
                              </m:e>
                              <m:sub>
                                <m:r>
                                  <a:rPr lang="en-US" sz="1600" b="1" i="1" kern="0" smtClean="0">
                                    <a:latin typeface="Cambria Math" panose="02040503050406030204" pitchFamily="18" charset="0"/>
                                  </a:rPr>
                                  <m:t>𝒄</m:t>
                                </m:r>
                              </m:sub>
                            </m:sSub>
                          </m:e>
                        </m:d>
                      </m:e>
                      <m:sup>
                        <m:r>
                          <a:rPr lang="en-US" sz="1600" b="1" i="1" kern="0" smtClean="0">
                            <a:latin typeface="Cambria Math" panose="02040503050406030204" pitchFamily="18" charset="0"/>
                          </a:rPr>
                          <m:t>𝒏</m:t>
                        </m:r>
                      </m:sup>
                    </m:sSup>
                  </m:oMath>
                </a14:m>
                <a:endParaRPr lang="en-US" sz="1600" b="1" i="1" kern="0" dirty="0">
                  <a:latin typeface="Times New Roman" panose="02020603050405020304" pitchFamily="18" charset="0"/>
                  <a:cs typeface="Times New Roman" panose="02020603050405020304" pitchFamily="18" charset="0"/>
                </a:endParaRPr>
              </a:p>
              <a:p>
                <a:endParaRPr lang="en-IN" sz="1600" i="1" dirty="0">
                  <a:solidFill>
                    <a:srgbClr val="836967"/>
                  </a:solidFill>
                  <a:latin typeface="Times New Roman" panose="02020603050405020304" pitchFamily="18" charset="0"/>
                  <a:cs typeface="Times New Roman" panose="02020603050405020304" pitchFamily="18" charset="0"/>
                </a:endParaRPr>
              </a:p>
              <a:p>
                <a14:m>
                  <m:oMath xmlns:m="http://schemas.openxmlformats.org/officeDocument/2006/math">
                    <m:r>
                      <m:rPr>
                        <m:sty m:val="p"/>
                      </m:rPr>
                      <a:rPr lang="en-US" sz="1600" b="0" i="0" dirty="0" smtClean="0">
                        <a:latin typeface="Cambria Math" panose="02040503050406030204" pitchFamily="18" charset="0"/>
                      </a:rPr>
                      <m:t>C</m:t>
                    </m:r>
                  </m:oMath>
                </a14:m>
                <a:r>
                  <a:rPr lang="fr-FR" sz="1600" dirty="0">
                    <a:latin typeface="Times New Roman" panose="02020603050405020304" pitchFamily="18" charset="0"/>
                    <a:cs typeface="Times New Roman" panose="02020603050405020304" pitchFamily="18" charset="0"/>
                  </a:rPr>
                  <a:t> :Empirical constant (e.g., 6.7)                                     </a:t>
                </a:r>
                <a14:m>
                  <m:oMath xmlns:m="http://schemas.openxmlformats.org/officeDocument/2006/math">
                    <m:sSub>
                      <m:sSubPr>
                        <m:ctrlPr>
                          <a:rPr lang="en-IN" sz="1600" i="1" dirty="0" smtClean="0">
                            <a:solidFill>
                              <a:srgbClr val="836967"/>
                            </a:solidFill>
                            <a:latin typeface="Cambria Math" panose="02040503050406030204" pitchFamily="18" charset="0"/>
                          </a:rPr>
                        </m:ctrlPr>
                      </m:sSubPr>
                      <m:e>
                        <m:r>
                          <a:rPr lang="en-US" sz="1600" b="0" i="1" dirty="0" smtClean="0">
                            <a:latin typeface="Cambria Math" panose="02040503050406030204" pitchFamily="18" charset="0"/>
                          </a:rPr>
                          <m:t>𝑉</m:t>
                        </m:r>
                      </m:e>
                      <m:sub>
                        <m:r>
                          <a:rPr lang="en-IN" sz="1600" i="1" dirty="0">
                            <a:latin typeface="Cambria Math" panose="02040503050406030204" pitchFamily="18" charset="0"/>
                          </a:rPr>
                          <m:t>𝑚𝑎</m:t>
                        </m:r>
                        <m:r>
                          <a:rPr lang="en-US" sz="1600" b="0" i="1" dirty="0" smtClean="0">
                            <a:latin typeface="Cambria Math" panose="02040503050406030204" pitchFamily="18" charset="0"/>
                          </a:rPr>
                          <m:t>𝑥</m:t>
                        </m:r>
                      </m:sub>
                    </m:sSub>
                    <m:r>
                      <m:rPr>
                        <m:nor/>
                      </m:rPr>
                      <a:rPr lang="en-US" sz="1600" b="0" i="0" dirty="0" smtClean="0">
                        <a:latin typeface="Times New Roman" panose="02020603050405020304" pitchFamily="18" charset="0"/>
                        <a:cs typeface="Times New Roman" panose="02020603050405020304" pitchFamily="18" charset="0"/>
                      </a:rPr>
                      <m:t>:</m:t>
                    </m:r>
                    <m:r>
                      <m:rPr>
                        <m:nor/>
                      </m:rPr>
                      <a:rPr lang="en-IN" sz="1600">
                        <a:latin typeface="Times New Roman" panose="02020603050405020304" pitchFamily="18" charset="0"/>
                        <a:cs typeface="Times New Roman" panose="02020603050405020304" pitchFamily="18" charset="0"/>
                      </a:rPr>
                      <m:t>Maximum</m:t>
                    </m:r>
                    <m:r>
                      <m:rPr>
                        <m:nor/>
                      </m:rPr>
                      <a:rPr lang="en-IN" sz="1600">
                        <a:latin typeface="Times New Roman" panose="02020603050405020304" pitchFamily="18" charset="0"/>
                        <a:cs typeface="Times New Roman" panose="02020603050405020304" pitchFamily="18" charset="0"/>
                      </a:rPr>
                      <m:t> </m:t>
                    </m:r>
                    <m:r>
                      <m:rPr>
                        <m:nor/>
                      </m:rPr>
                      <a:rPr lang="en-IN" sz="1600">
                        <a:latin typeface="Times New Roman" panose="02020603050405020304" pitchFamily="18" charset="0"/>
                        <a:cs typeface="Times New Roman" panose="02020603050405020304" pitchFamily="18" charset="0"/>
                      </a:rPr>
                      <m:t>sustained</m:t>
                    </m:r>
                    <m:r>
                      <m:rPr>
                        <m:nor/>
                      </m:rPr>
                      <a:rPr lang="en-IN" sz="1600">
                        <a:latin typeface="Times New Roman" panose="02020603050405020304" pitchFamily="18" charset="0"/>
                        <a:cs typeface="Times New Roman" panose="02020603050405020304" pitchFamily="18" charset="0"/>
                      </a:rPr>
                      <m:t> </m:t>
                    </m:r>
                    <m:r>
                      <m:rPr>
                        <m:nor/>
                      </m:rPr>
                      <a:rPr lang="en-IN" sz="1600">
                        <a:latin typeface="Times New Roman" panose="02020603050405020304" pitchFamily="18" charset="0"/>
                        <a:cs typeface="Times New Roman" panose="02020603050405020304" pitchFamily="18" charset="0"/>
                      </a:rPr>
                      <m:t>wind</m:t>
                    </m:r>
                    <m:r>
                      <m:rPr>
                        <m:nor/>
                      </m:rPr>
                      <a:rPr lang="en-IN" sz="1600">
                        <a:latin typeface="Times New Roman" panose="02020603050405020304" pitchFamily="18" charset="0"/>
                        <a:cs typeface="Times New Roman" panose="02020603050405020304" pitchFamily="18" charset="0"/>
                      </a:rPr>
                      <m:t> </m:t>
                    </m:r>
                    <m:r>
                      <m:rPr>
                        <m:nor/>
                      </m:rPr>
                      <a:rPr lang="en-IN" sz="1600">
                        <a:latin typeface="Times New Roman" panose="02020603050405020304" pitchFamily="18" charset="0"/>
                        <a:cs typeface="Times New Roman" panose="02020603050405020304" pitchFamily="18" charset="0"/>
                      </a:rPr>
                      <m:t>speed</m:t>
                    </m:r>
                  </m:oMath>
                </a14:m>
                <a:endParaRPr lang="fr-FR" sz="1600" dirty="0">
                  <a:latin typeface="Times New Roman" panose="02020603050405020304" pitchFamily="18" charset="0"/>
                  <a:cs typeface="Times New Roman" panose="02020603050405020304" pitchFamily="18" charset="0"/>
                </a:endParaRPr>
              </a:p>
              <a:p>
                <a14:m>
                  <m:oMath xmlns:m="http://schemas.openxmlformats.org/officeDocument/2006/math">
                    <m:sSub>
                      <m:sSubPr>
                        <m:ctrlPr>
                          <a:rPr lang="en-US" sz="1600" i="1" kern="0" smtClean="0">
                            <a:latin typeface="Cambria Math" panose="02040503050406030204" pitchFamily="18" charset="0"/>
                          </a:rPr>
                        </m:ctrlPr>
                      </m:sSubPr>
                      <m:e>
                        <m:r>
                          <a:rPr lang="en-US" sz="1600" b="0" i="1" kern="0" smtClean="0">
                            <a:latin typeface="Cambria Math" panose="02040503050406030204" pitchFamily="18" charset="0"/>
                          </a:rPr>
                          <m:t>𝑃</m:t>
                        </m:r>
                      </m:e>
                      <m:sub>
                        <m:r>
                          <a:rPr lang="en-US" sz="1600" b="0" i="1" kern="0" smtClean="0">
                            <a:latin typeface="Cambria Math" panose="02040503050406030204" pitchFamily="18" charset="0"/>
                          </a:rPr>
                          <m:t>𝑟𝑒𝑓</m:t>
                        </m:r>
                      </m:sub>
                    </m:sSub>
                  </m:oMath>
                </a14:m>
                <a:r>
                  <a:rPr lang="en-US" sz="1600" dirty="0">
                    <a:latin typeface="Times New Roman" panose="02020603050405020304" pitchFamily="18" charset="0"/>
                    <a:cs typeface="Times New Roman" panose="02020603050405020304" pitchFamily="18" charset="0"/>
                  </a:rPr>
                  <a:t> : Reference pressure (typically 1013 </a:t>
                </a:r>
                <a:r>
                  <a:rPr lang="en-US" sz="1600" dirty="0" err="1">
                    <a:latin typeface="Times New Roman" panose="02020603050405020304" pitchFamily="18" charset="0"/>
                    <a:cs typeface="Times New Roman" panose="02020603050405020304" pitchFamily="18" charset="0"/>
                  </a:rPr>
                  <a:t>hPa</a:t>
                </a:r>
                <a:r>
                  <a:rPr lang="en-US" sz="1600" dirty="0">
                    <a:latin typeface="Times New Roman" panose="02020603050405020304" pitchFamily="18" charset="0"/>
                    <a:cs typeface="Times New Roman" panose="02020603050405020304" pitchFamily="18" charset="0"/>
                  </a:rPr>
                  <a:t>)</a:t>
                </a:r>
              </a:p>
              <a:p>
                <a14:m>
                  <m:oMath xmlns:m="http://schemas.openxmlformats.org/officeDocument/2006/math">
                    <m:sSub>
                      <m:sSubPr>
                        <m:ctrlPr>
                          <a:rPr lang="en-US" sz="1600" b="1" i="1" kern="0" smtClean="0">
                            <a:latin typeface="Cambria Math" panose="02040503050406030204" pitchFamily="18" charset="0"/>
                          </a:rPr>
                        </m:ctrlPr>
                      </m:sSubPr>
                      <m:e>
                        <m:r>
                          <a:rPr lang="en-US" sz="1600" b="1" i="1" kern="0" smtClean="0">
                            <a:latin typeface="Cambria Math" panose="02040503050406030204" pitchFamily="18" charset="0"/>
                          </a:rPr>
                          <m:t>𝑷</m:t>
                        </m:r>
                      </m:e>
                      <m:sub>
                        <m:r>
                          <a:rPr lang="en-US" sz="1600" b="1" i="1" kern="0" smtClean="0">
                            <a:latin typeface="Cambria Math" panose="02040503050406030204" pitchFamily="18" charset="0"/>
                          </a:rPr>
                          <m:t>𝒄</m:t>
                        </m:r>
                      </m:sub>
                    </m:sSub>
                  </m:oMath>
                </a14:m>
                <a:r>
                  <a:rPr lang="en-US" sz="1600" dirty="0">
                    <a:latin typeface="Times New Roman" panose="02020603050405020304" pitchFamily="18" charset="0"/>
                    <a:cs typeface="Times New Roman" panose="02020603050405020304" pitchFamily="18" charset="0"/>
                  </a:rPr>
                  <a:t> : Central pressure of the cyclone                               </a:t>
                </a:r>
                <a:r>
                  <a:rPr lang="en-IN" sz="1600" dirty="0">
                    <a:latin typeface="Times New Roman" panose="02020603050405020304" pitchFamily="18" charset="0"/>
                    <a:cs typeface="Times New Roman" panose="02020603050405020304" pitchFamily="18" charset="0"/>
                  </a:rPr>
                  <a:t>n: Empirical exponent (e.g., 0.644)</a:t>
                </a:r>
              </a:p>
              <a:p>
                <a:endParaRPr lang="en-US" sz="800" b="0" i="0" dirty="0">
                  <a:latin typeface="Times New Roman" panose="02020603050405020304" pitchFamily="18" charset="0"/>
                  <a:cs typeface="Times New Roman" panose="02020603050405020304" pitchFamily="18" charset="0"/>
                </a:endParaRPr>
              </a:p>
              <a:p>
                <a:r>
                  <a:rPr lang="en-US" sz="800" b="0" i="0" dirty="0">
                    <a:latin typeface="Times New Roman" panose="02020603050405020304" pitchFamily="18" charset="0"/>
                    <a:cs typeface="Times New Roman" panose="02020603050405020304" pitchFamily="18" charset="0"/>
                  </a:rPr>
                  <a:t>Knaff, J. A., &amp; Zehr, R. M. (2007). Reexamination of tropical cyclone wind–pressure relationships. </a:t>
                </a:r>
                <a:r>
                  <a:rPr lang="en-US" sz="800" b="0" i="1" dirty="0">
                    <a:latin typeface="Times New Roman" panose="02020603050405020304" pitchFamily="18" charset="0"/>
                    <a:cs typeface="Times New Roman" panose="02020603050405020304" pitchFamily="18" charset="0"/>
                  </a:rPr>
                  <a:t>Weather and Forecasting</a:t>
                </a:r>
              </a:p>
            </p:txBody>
          </p:sp>
        </mc:Choice>
        <mc:Fallback xmlns="">
          <p:sp>
            <p:nvSpPr>
              <p:cNvPr id="8" name="TextBox 7">
                <a:extLst>
                  <a:ext uri="{FF2B5EF4-FFF2-40B4-BE49-F238E27FC236}">
                    <a16:creationId xmlns:a16="http://schemas.microsoft.com/office/drawing/2014/main" id="{E94DF6C0-48EC-7900-0710-C7D5A7C59D2B}"/>
                  </a:ext>
                </a:extLst>
              </p:cNvPr>
              <p:cNvSpPr txBox="1">
                <a:spLocks noRot="1" noChangeAspect="1" noMove="1" noResize="1" noEditPoints="1" noAdjustHandles="1" noChangeArrowheads="1" noChangeShapeType="1" noTextEdit="1"/>
              </p:cNvSpPr>
              <p:nvPr/>
            </p:nvSpPr>
            <p:spPr>
              <a:xfrm>
                <a:off x="3825433" y="1730196"/>
                <a:ext cx="8366567" cy="1904239"/>
              </a:xfrm>
              <a:prstGeom prst="rect">
                <a:avLst/>
              </a:prstGeom>
              <a:blipFill>
                <a:blip r:embed="rId5"/>
                <a:stretch>
                  <a:fillRect l="-364" t="-637"/>
                </a:stretch>
              </a:blipFill>
              <a:ln>
                <a:solidFill>
                  <a:schemeClr val="tx1"/>
                </a:solidFill>
              </a:ln>
            </p:spPr>
            <p:txBody>
              <a:bodyPr/>
              <a:lstStyle/>
              <a:p>
                <a:r>
                  <a:rPr lang="en-IN">
                    <a:noFill/>
                  </a:rPr>
                  <a:t> </a:t>
                </a:r>
              </a:p>
            </p:txBody>
          </p:sp>
        </mc:Fallback>
      </mc:AlternateContent>
      <p:sp>
        <p:nvSpPr>
          <p:cNvPr id="9" name="TextBox 8">
            <a:extLst>
              <a:ext uri="{FF2B5EF4-FFF2-40B4-BE49-F238E27FC236}">
                <a16:creationId xmlns:a16="http://schemas.microsoft.com/office/drawing/2014/main" id="{5077E7D4-3B24-D8E1-9DBC-40CDF89B92C5}"/>
              </a:ext>
            </a:extLst>
          </p:cNvPr>
          <p:cNvSpPr txBox="1"/>
          <p:nvPr/>
        </p:nvSpPr>
        <p:spPr>
          <a:xfrm>
            <a:off x="3825433" y="3698693"/>
            <a:ext cx="8366567" cy="2771711"/>
          </a:xfrm>
          <a:prstGeom prst="rect">
            <a:avLst/>
          </a:prstGeom>
          <a:noFill/>
          <a:ln>
            <a:solidFill>
              <a:schemeClr val="tx1"/>
            </a:solidFill>
          </a:ln>
        </p:spPr>
        <p:txBody>
          <a:bodyPr wrap="square" rtlCol="0">
            <a:spAutoFit/>
          </a:bodyPr>
          <a:lstStyle/>
          <a:p>
            <a:endParaRPr lang="en-IN" dirty="0"/>
          </a:p>
        </p:txBody>
      </p:sp>
    </p:spTree>
    <p:extLst>
      <p:ext uri="{BB962C8B-B14F-4D97-AF65-F5344CB8AC3E}">
        <p14:creationId xmlns:p14="http://schemas.microsoft.com/office/powerpoint/2010/main" val="726907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3" name="Rectangle 12">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3839B2-1F1E-4C45-0251-306FF8E778CD}"/>
              </a:ext>
            </a:extLst>
          </p:cNvPr>
          <p:cNvSpPr>
            <a:spLocks noGrp="1"/>
          </p:cNvSpPr>
          <p:nvPr>
            <p:ph type="ctrTitle"/>
          </p:nvPr>
        </p:nvSpPr>
        <p:spPr>
          <a:xfrm>
            <a:off x="699714" y="353160"/>
            <a:ext cx="7091300" cy="898581"/>
          </a:xfrm>
        </p:spPr>
        <p:txBody>
          <a:bodyPr anchor="ctr">
            <a:normAutofit/>
          </a:bodyPr>
          <a:lstStyle/>
          <a:p>
            <a:pPr algn="l"/>
            <a:r>
              <a:rPr lang="en-US" sz="4000">
                <a:solidFill>
                  <a:srgbClr val="FFFFFF"/>
                </a:solidFill>
                <a:latin typeface="Times New Roman" panose="02020603050405020304" pitchFamily="18" charset="0"/>
                <a:cs typeface="Times New Roman" panose="02020603050405020304" pitchFamily="18" charset="0"/>
              </a:rPr>
              <a:t>Study Areas</a:t>
            </a:r>
            <a:endParaRPr lang="en-IN" sz="4000">
              <a:solidFill>
                <a:srgbClr val="FFFFFF"/>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82BB22C-5394-0872-285F-B75C39E6772E}"/>
              </a:ext>
            </a:extLst>
          </p:cNvPr>
          <p:cNvPicPr>
            <a:picLocks noChangeAspect="1"/>
          </p:cNvPicPr>
          <p:nvPr/>
        </p:nvPicPr>
        <p:blipFill>
          <a:blip r:embed="rId2"/>
          <a:stretch>
            <a:fillRect/>
          </a:stretch>
        </p:blipFill>
        <p:spPr>
          <a:xfrm>
            <a:off x="0" y="2070331"/>
            <a:ext cx="3508096" cy="3997831"/>
          </a:xfrm>
          <a:prstGeom prst="rect">
            <a:avLst/>
          </a:prstGeom>
        </p:spPr>
      </p:pic>
      <p:pic>
        <p:nvPicPr>
          <p:cNvPr id="12" name="Picture 11">
            <a:extLst>
              <a:ext uri="{FF2B5EF4-FFF2-40B4-BE49-F238E27FC236}">
                <a16:creationId xmlns:a16="http://schemas.microsoft.com/office/drawing/2014/main" id="{837C5F22-8CBC-F443-246B-ACD6007E9B8A}"/>
              </a:ext>
            </a:extLst>
          </p:cNvPr>
          <p:cNvPicPr>
            <a:picLocks noChangeAspect="1"/>
          </p:cNvPicPr>
          <p:nvPr/>
        </p:nvPicPr>
        <p:blipFill>
          <a:blip r:embed="rId3"/>
          <a:stretch>
            <a:fillRect/>
          </a:stretch>
        </p:blipFill>
        <p:spPr>
          <a:xfrm>
            <a:off x="4015567" y="2874948"/>
            <a:ext cx="6894208" cy="2633243"/>
          </a:xfrm>
          <a:prstGeom prst="rect">
            <a:avLst/>
          </a:prstGeom>
        </p:spPr>
      </p:pic>
    </p:spTree>
    <p:extLst>
      <p:ext uri="{BB962C8B-B14F-4D97-AF65-F5344CB8AC3E}">
        <p14:creationId xmlns:p14="http://schemas.microsoft.com/office/powerpoint/2010/main" val="1772049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768466-7AFE-4248-A293-D426E2C96259}"/>
              </a:ext>
            </a:extLst>
          </p:cNvPr>
          <p:cNvSpPr>
            <a:spLocks noGrp="1"/>
          </p:cNvSpPr>
          <p:nvPr>
            <p:ph type="ctrTitle"/>
          </p:nvPr>
        </p:nvSpPr>
        <p:spPr>
          <a:xfrm>
            <a:off x="699713" y="248038"/>
            <a:ext cx="7063721" cy="1159200"/>
          </a:xfrm>
        </p:spPr>
        <p:txBody>
          <a:bodyPr anchor="ctr">
            <a:normAutofit/>
          </a:bodyPr>
          <a:lstStyle/>
          <a:p>
            <a:pPr algn="l"/>
            <a:r>
              <a:rPr lang="en-US" sz="4000" dirty="0">
                <a:solidFill>
                  <a:srgbClr val="FFFFFF"/>
                </a:solidFill>
                <a:latin typeface="Times New Roman" panose="02020603050405020304" pitchFamily="18" charset="0"/>
                <a:cs typeface="Times New Roman" panose="02020603050405020304" pitchFamily="18" charset="0"/>
              </a:rPr>
              <a:t>Cyclone Trend </a:t>
            </a:r>
            <a:endParaRPr lang="en-IN" sz="4000" dirty="0">
              <a:solidFill>
                <a:srgbClr val="FFFFFF"/>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4CF9C1E-6DDD-CEF8-6389-63ABC205791D}"/>
              </a:ext>
            </a:extLst>
          </p:cNvPr>
          <p:cNvPicPr>
            <a:picLocks noChangeAspect="1"/>
          </p:cNvPicPr>
          <p:nvPr/>
        </p:nvPicPr>
        <p:blipFill>
          <a:blip r:embed="rId2"/>
          <a:stretch>
            <a:fillRect/>
          </a:stretch>
        </p:blipFill>
        <p:spPr>
          <a:xfrm>
            <a:off x="390220" y="1574310"/>
            <a:ext cx="7348416" cy="3839547"/>
          </a:xfrm>
          <a:prstGeom prst="rect">
            <a:avLst/>
          </a:prstGeom>
        </p:spPr>
      </p:pic>
      <p:sp>
        <p:nvSpPr>
          <p:cNvPr id="3" name="TextBox 2">
            <a:extLst>
              <a:ext uri="{FF2B5EF4-FFF2-40B4-BE49-F238E27FC236}">
                <a16:creationId xmlns:a16="http://schemas.microsoft.com/office/drawing/2014/main" id="{D9EA0175-B3C7-CEB9-42E1-1DB81E171C0C}"/>
              </a:ext>
            </a:extLst>
          </p:cNvPr>
          <p:cNvSpPr txBox="1"/>
          <p:nvPr/>
        </p:nvSpPr>
        <p:spPr>
          <a:xfrm>
            <a:off x="-2" y="5426100"/>
            <a:ext cx="12192002" cy="1477328"/>
          </a:xfrm>
          <a:prstGeom prst="rect">
            <a:avLst/>
          </a:prstGeom>
          <a:noFill/>
        </p:spPr>
        <p:txBody>
          <a:bodyPr wrap="square" rtlCol="0">
            <a:sp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graph shows cyclone wind speed trends with polynomial regression forecasts (2025–2035).</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Past data shows high variability, with peaks during Super Cyclone, Phailin, and Amphan.</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Future projections suggest stabilization, with maximum wind speeds leveling around </a:t>
            </a:r>
            <a:r>
              <a:rPr lang="en-US" b="1" dirty="0">
                <a:latin typeface="Times New Roman" panose="02020603050405020304" pitchFamily="18" charset="0"/>
                <a:cs typeface="Times New Roman" panose="02020603050405020304" pitchFamily="18" charset="0"/>
              </a:rPr>
              <a:t>169 km/h</a:t>
            </a:r>
            <a:r>
              <a:rPr lang="en-US" dirty="0">
                <a:latin typeface="Times New Roman" panose="02020603050405020304" pitchFamily="18" charset="0"/>
                <a:cs typeface="Times New Roman" panose="02020603050405020304" pitchFamily="18" charset="0"/>
              </a:rPr>
              <a:t>, and mean/minimum values remaining steady.</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This indicates a potential steadying of cyclone intensity based on historical pressure and wind speed patterns.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7920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3" name="Rectangle 12">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8C37DB-9FC3-6AD3-F528-297BD005B426}"/>
              </a:ext>
            </a:extLst>
          </p:cNvPr>
          <p:cNvSpPr>
            <a:spLocks noGrp="1"/>
          </p:cNvSpPr>
          <p:nvPr>
            <p:ph type="ctrTitle"/>
          </p:nvPr>
        </p:nvSpPr>
        <p:spPr>
          <a:xfrm>
            <a:off x="195189" y="569921"/>
            <a:ext cx="7933666" cy="898581"/>
          </a:xfrm>
        </p:spPr>
        <p:txBody>
          <a:bodyPr anchor="ctr">
            <a:normAutofit/>
          </a:bodyPr>
          <a:lstStyle/>
          <a:p>
            <a:pPr algn="l"/>
            <a:r>
              <a:rPr lang="en-US" sz="2800" dirty="0">
                <a:solidFill>
                  <a:schemeClr val="bg1"/>
                </a:solidFill>
                <a:latin typeface="Times New Roman" panose="02020603050405020304" pitchFamily="18" charset="0"/>
                <a:cs typeface="Times New Roman" panose="02020603050405020304" pitchFamily="18" charset="0"/>
              </a:rPr>
              <a:t>Future Cyclone Wind Speed Forecast (2025–2034)</a:t>
            </a:r>
            <a:endParaRPr lang="en-IN" sz="8000"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46D1C06-585D-68B1-833E-EB16B593069A}"/>
              </a:ext>
            </a:extLst>
          </p:cNvPr>
          <p:cNvPicPr>
            <a:picLocks noChangeAspect="1"/>
          </p:cNvPicPr>
          <p:nvPr/>
        </p:nvPicPr>
        <p:blipFill>
          <a:blip r:embed="rId2"/>
          <a:stretch>
            <a:fillRect/>
          </a:stretch>
        </p:blipFill>
        <p:spPr>
          <a:xfrm>
            <a:off x="5131086" y="2024137"/>
            <a:ext cx="7060915" cy="2312449"/>
          </a:xfrm>
          <a:prstGeom prst="rect">
            <a:avLst/>
          </a:prstGeom>
        </p:spPr>
      </p:pic>
      <p:pic>
        <p:nvPicPr>
          <p:cNvPr id="5" name="Picture 4">
            <a:extLst>
              <a:ext uri="{FF2B5EF4-FFF2-40B4-BE49-F238E27FC236}">
                <a16:creationId xmlns:a16="http://schemas.microsoft.com/office/drawing/2014/main" id="{4F6A2B1F-8BA0-6799-BFB4-CC28ACDC9558}"/>
              </a:ext>
            </a:extLst>
          </p:cNvPr>
          <p:cNvPicPr>
            <a:picLocks noChangeAspect="1"/>
          </p:cNvPicPr>
          <p:nvPr/>
        </p:nvPicPr>
        <p:blipFill>
          <a:blip r:embed="rId3"/>
          <a:stretch>
            <a:fillRect/>
          </a:stretch>
        </p:blipFill>
        <p:spPr>
          <a:xfrm>
            <a:off x="-2" y="1603915"/>
            <a:ext cx="5131087" cy="2976029"/>
          </a:xfrm>
          <a:prstGeom prst="rect">
            <a:avLst/>
          </a:prstGeom>
        </p:spPr>
      </p:pic>
      <p:sp>
        <p:nvSpPr>
          <p:cNvPr id="3" name="TextBox 2">
            <a:extLst>
              <a:ext uri="{FF2B5EF4-FFF2-40B4-BE49-F238E27FC236}">
                <a16:creationId xmlns:a16="http://schemas.microsoft.com/office/drawing/2014/main" id="{BBC4DC17-D15D-5ACE-C4C2-EF93E7353012}"/>
              </a:ext>
            </a:extLst>
          </p:cNvPr>
          <p:cNvSpPr txBox="1"/>
          <p:nvPr/>
        </p:nvSpPr>
        <p:spPr>
          <a:xfrm>
            <a:off x="195189" y="4607412"/>
            <a:ext cx="11801622" cy="2585323"/>
          </a:xfrm>
          <a:prstGeom prst="rect">
            <a:avLst/>
          </a:prstGeom>
          <a:noFill/>
        </p:spPr>
        <p:txBody>
          <a:bodyPr wrap="square" rtlCol="0">
            <a:spAutoFit/>
          </a:bodyPr>
          <a:lstStyle/>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The graphs show predicted maximum, mean, and minimum wind speeds for cyclones from 2025 to 2034, based on historical data and regression modeling.</a:t>
            </a: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While past cyclones show large variations, future predictions indicate: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Maximum wind speeds may remain high but vary year to year, peaking around more than </a:t>
            </a:r>
            <a:r>
              <a:rPr lang="en-US" b="1" dirty="0">
                <a:latin typeface="Times New Roman" panose="02020603050405020304" pitchFamily="18" charset="0"/>
                <a:cs typeface="Times New Roman" panose="02020603050405020304" pitchFamily="18" charset="0"/>
              </a:rPr>
              <a:t>200+ km/h.</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Mean wind speeds are relatively steady, around </a:t>
            </a:r>
            <a:r>
              <a:rPr lang="en-US" b="1" dirty="0">
                <a:latin typeface="Times New Roman" panose="02020603050405020304" pitchFamily="18" charset="0"/>
                <a:cs typeface="Times New Roman" panose="02020603050405020304" pitchFamily="18" charset="0"/>
              </a:rPr>
              <a:t>150–180 km/h.</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Minimum wind speeds show moderate fluctuations, ranging from </a:t>
            </a:r>
            <a:r>
              <a:rPr lang="en-US" b="1" dirty="0">
                <a:latin typeface="Times New Roman" panose="02020603050405020304" pitchFamily="18" charset="0"/>
                <a:cs typeface="Times New Roman" panose="02020603050405020304" pitchFamily="18" charset="0"/>
              </a:rPr>
              <a:t>25 to 100 km/h.</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forecast reflects a non-linear trend, capturing both stable and potentially extreme future cyclone events.</a:t>
            </a:r>
          </a:p>
          <a:p>
            <a:endParaRPr lang="en-US" dirty="0">
              <a:latin typeface="Times New Roman" panose="02020603050405020304" pitchFamily="18" charset="0"/>
              <a:cs typeface="Times New Roman" panose="02020603050405020304" pitchFamily="18" charset="0"/>
            </a:endParaRPr>
          </a:p>
          <a:p>
            <a:endParaRPr lang="en-IN"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4F9385B-2029-5E10-8272-F425F77CE670}"/>
                  </a:ext>
                </a:extLst>
              </p:cNvPr>
              <p:cNvSpPr txBox="1"/>
              <p:nvPr/>
            </p:nvSpPr>
            <p:spPr>
              <a:xfrm>
                <a:off x="8769246" y="4062334"/>
                <a:ext cx="3227565" cy="446341"/>
              </a:xfrm>
              <a:prstGeom prst="rect">
                <a:avLst/>
              </a:prstGeom>
              <a:noFill/>
              <a:ln>
                <a:solidFill>
                  <a:srgbClr val="FFFF00"/>
                </a:solidFill>
              </a:ln>
            </p:spPr>
            <p:txBody>
              <a:bodyPr wrap="square" rtlCol="0">
                <a:spAutoFit/>
              </a:bodyPr>
              <a:lstStyle/>
              <a:p>
                <a14:m>
                  <m:oMath xmlns:m="http://schemas.openxmlformats.org/officeDocument/2006/math">
                    <m:sSub>
                      <m:sSubPr>
                        <m:ctrlPr>
                          <a:rPr lang="en-IN" sz="1800" b="1" i="1" dirty="0" smtClean="0">
                            <a:solidFill>
                              <a:srgbClr val="836967"/>
                            </a:solidFill>
                            <a:latin typeface="Cambria Math" panose="02040503050406030204" pitchFamily="18" charset="0"/>
                          </a:rPr>
                        </m:ctrlPr>
                      </m:sSubPr>
                      <m:e>
                        <m:r>
                          <a:rPr lang="en-US" sz="1800" b="1" i="1" dirty="0" smtClean="0">
                            <a:latin typeface="Cambria Math" panose="02040503050406030204" pitchFamily="18" charset="0"/>
                          </a:rPr>
                          <m:t>𝑽</m:t>
                        </m:r>
                      </m:e>
                      <m:sub>
                        <m:r>
                          <a:rPr lang="en-IN" sz="1800" b="1" i="1" dirty="0">
                            <a:latin typeface="Cambria Math" panose="02040503050406030204" pitchFamily="18" charset="0"/>
                          </a:rPr>
                          <m:t>𝒎𝒂</m:t>
                        </m:r>
                        <m:r>
                          <a:rPr lang="en-US" sz="1800" b="1" i="1" dirty="0" smtClean="0">
                            <a:latin typeface="Cambria Math" panose="02040503050406030204" pitchFamily="18" charset="0"/>
                          </a:rPr>
                          <m:t>𝒙</m:t>
                        </m:r>
                      </m:sub>
                    </m:sSub>
                    <m:r>
                      <a:rPr lang="en-IN" sz="1800" b="1" i="0" dirty="0">
                        <a:latin typeface="Cambria Math" panose="02040503050406030204" pitchFamily="18" charset="0"/>
                      </a:rPr>
                      <m:t>=</m:t>
                    </m:r>
                    <m:r>
                      <a:rPr lang="en-US" sz="1800" b="1" i="0" dirty="0" smtClean="0">
                        <a:latin typeface="Cambria Math" panose="02040503050406030204" pitchFamily="18" charset="0"/>
                      </a:rPr>
                      <m:t>𝐂</m:t>
                    </m:r>
                  </m:oMath>
                </a14:m>
                <a:r>
                  <a:rPr lang="en-US" sz="1800" b="1" kern="0"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en-US" sz="1800" b="1" i="1" kern="0">
                            <a:latin typeface="Cambria Math" panose="02040503050406030204" pitchFamily="18" charset="0"/>
                          </a:rPr>
                        </m:ctrlPr>
                      </m:sSupPr>
                      <m:e>
                        <m:d>
                          <m:dPr>
                            <m:ctrlPr>
                              <a:rPr lang="en-US" sz="1800" b="1" i="1" kern="0">
                                <a:latin typeface="Cambria Math" panose="02040503050406030204" pitchFamily="18" charset="0"/>
                              </a:rPr>
                            </m:ctrlPr>
                          </m:dPr>
                          <m:e>
                            <m:sSub>
                              <m:sSubPr>
                                <m:ctrlPr>
                                  <a:rPr lang="en-US" sz="1800" b="1" i="1" kern="0">
                                    <a:latin typeface="Cambria Math" panose="02040503050406030204" pitchFamily="18" charset="0"/>
                                  </a:rPr>
                                </m:ctrlPr>
                              </m:sSubPr>
                              <m:e>
                                <m:r>
                                  <a:rPr lang="en-US" sz="1800" b="1" i="1" kern="0" smtClean="0">
                                    <a:latin typeface="Cambria Math" panose="02040503050406030204" pitchFamily="18" charset="0"/>
                                  </a:rPr>
                                  <m:t>𝑷</m:t>
                                </m:r>
                              </m:e>
                              <m:sub>
                                <m:r>
                                  <a:rPr lang="en-US" sz="1800" b="1" i="1" kern="0" smtClean="0">
                                    <a:latin typeface="Cambria Math" panose="02040503050406030204" pitchFamily="18" charset="0"/>
                                  </a:rPr>
                                  <m:t>𝒓𝒆𝒇</m:t>
                                </m:r>
                              </m:sub>
                            </m:sSub>
                            <m:r>
                              <a:rPr lang="en-US" sz="1800" b="1" kern="0">
                                <a:latin typeface="Cambria Math" panose="02040503050406030204" pitchFamily="18" charset="0"/>
                              </a:rPr>
                              <m:t>−</m:t>
                            </m:r>
                            <m:sSub>
                              <m:sSubPr>
                                <m:ctrlPr>
                                  <a:rPr lang="en-US" sz="1800" b="1" i="1" kern="0">
                                    <a:latin typeface="Cambria Math" panose="02040503050406030204" pitchFamily="18" charset="0"/>
                                  </a:rPr>
                                </m:ctrlPr>
                              </m:sSubPr>
                              <m:e>
                                <m:r>
                                  <a:rPr lang="en-US" sz="1800" b="1" i="1" kern="0" smtClean="0">
                                    <a:latin typeface="Cambria Math" panose="02040503050406030204" pitchFamily="18" charset="0"/>
                                  </a:rPr>
                                  <m:t>𝑷</m:t>
                                </m:r>
                              </m:e>
                              <m:sub>
                                <m:r>
                                  <a:rPr lang="en-US" sz="1800" b="1" i="1" kern="0" smtClean="0">
                                    <a:latin typeface="Cambria Math" panose="02040503050406030204" pitchFamily="18" charset="0"/>
                                  </a:rPr>
                                  <m:t>𝒄</m:t>
                                </m:r>
                              </m:sub>
                            </m:sSub>
                          </m:e>
                        </m:d>
                      </m:e>
                      <m:sup>
                        <m:r>
                          <a:rPr lang="en-US" sz="1800" b="1" i="1" kern="0" smtClean="0">
                            <a:latin typeface="Cambria Math" panose="02040503050406030204" pitchFamily="18" charset="0"/>
                          </a:rPr>
                          <m:t>𝒏</m:t>
                        </m:r>
                      </m:sup>
                    </m:sSup>
                  </m:oMath>
                </a14:m>
                <a:endParaRPr lang="en-IN" dirty="0"/>
              </a:p>
            </p:txBody>
          </p:sp>
        </mc:Choice>
        <mc:Fallback xmlns="">
          <p:sp>
            <p:nvSpPr>
              <p:cNvPr id="7" name="TextBox 6">
                <a:extLst>
                  <a:ext uri="{FF2B5EF4-FFF2-40B4-BE49-F238E27FC236}">
                    <a16:creationId xmlns:a16="http://schemas.microsoft.com/office/drawing/2014/main" id="{C4F9385B-2029-5E10-8272-F425F77CE670}"/>
                  </a:ext>
                </a:extLst>
              </p:cNvPr>
              <p:cNvSpPr txBox="1">
                <a:spLocks noRot="1" noChangeAspect="1" noMove="1" noResize="1" noEditPoints="1" noAdjustHandles="1" noChangeArrowheads="1" noChangeShapeType="1" noTextEdit="1"/>
              </p:cNvSpPr>
              <p:nvPr/>
            </p:nvSpPr>
            <p:spPr>
              <a:xfrm>
                <a:off x="8769246" y="4062334"/>
                <a:ext cx="3227565" cy="446341"/>
              </a:xfrm>
              <a:prstGeom prst="rect">
                <a:avLst/>
              </a:prstGeom>
              <a:blipFill>
                <a:blip r:embed="rId4"/>
                <a:stretch>
                  <a:fillRect b="-5263"/>
                </a:stretch>
              </a:blipFill>
              <a:ln>
                <a:solidFill>
                  <a:srgbClr val="FFFF00"/>
                </a:solidFill>
              </a:ln>
            </p:spPr>
            <p:txBody>
              <a:bodyPr/>
              <a:lstStyle/>
              <a:p>
                <a:r>
                  <a:rPr lang="en-IN">
                    <a:noFill/>
                  </a:rPr>
                  <a:t> </a:t>
                </a:r>
              </a:p>
            </p:txBody>
          </p:sp>
        </mc:Fallback>
      </mc:AlternateContent>
    </p:spTree>
    <p:extLst>
      <p:ext uri="{BB962C8B-B14F-4D97-AF65-F5344CB8AC3E}">
        <p14:creationId xmlns:p14="http://schemas.microsoft.com/office/powerpoint/2010/main" val="154459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B08C91-6992-8742-B87A-94AF55A0F11C}"/>
              </a:ext>
            </a:extLst>
          </p:cNvPr>
          <p:cNvSpPr>
            <a:spLocks noGrp="1"/>
          </p:cNvSpPr>
          <p:nvPr>
            <p:ph type="ctrTitle"/>
          </p:nvPr>
        </p:nvSpPr>
        <p:spPr>
          <a:xfrm>
            <a:off x="160067" y="415110"/>
            <a:ext cx="7063721" cy="1159200"/>
          </a:xfrm>
        </p:spPr>
        <p:txBody>
          <a:bodyPr anchor="ctr">
            <a:normAutofit/>
          </a:bodyPr>
          <a:lstStyle/>
          <a:p>
            <a:pPr algn="l"/>
            <a:r>
              <a:rPr lang="en-US" sz="2800" dirty="0">
                <a:solidFill>
                  <a:schemeClr val="bg1"/>
                </a:solidFill>
                <a:latin typeface="Times New Roman" panose="02020603050405020304" pitchFamily="18" charset="0"/>
                <a:cs typeface="Times New Roman" panose="02020603050405020304" pitchFamily="18" charset="0"/>
              </a:rPr>
              <a:t>Wind Speed vs Pressure Dynamics</a:t>
            </a:r>
            <a:endParaRPr lang="en-IN" sz="8000" b="1" dirty="0">
              <a:solidFill>
                <a:schemeClr val="bg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31AB7E9-0847-EE57-83A4-859C611D6B19}"/>
              </a:ext>
            </a:extLst>
          </p:cNvPr>
          <p:cNvPicPr>
            <a:picLocks noChangeAspect="1"/>
          </p:cNvPicPr>
          <p:nvPr/>
        </p:nvPicPr>
        <p:blipFill>
          <a:blip r:embed="rId2"/>
          <a:stretch>
            <a:fillRect/>
          </a:stretch>
        </p:blipFill>
        <p:spPr>
          <a:xfrm>
            <a:off x="-3" y="1622160"/>
            <a:ext cx="7223791" cy="3304884"/>
          </a:xfrm>
          <a:prstGeom prst="rect">
            <a:avLst/>
          </a:prstGeom>
        </p:spPr>
      </p:pic>
      <p:sp>
        <p:nvSpPr>
          <p:cNvPr id="3" name="TextBox 2">
            <a:extLst>
              <a:ext uri="{FF2B5EF4-FFF2-40B4-BE49-F238E27FC236}">
                <a16:creationId xmlns:a16="http://schemas.microsoft.com/office/drawing/2014/main" id="{78047330-67B5-9F98-760C-7E31CF2D9A9E}"/>
              </a:ext>
            </a:extLst>
          </p:cNvPr>
          <p:cNvSpPr txBox="1"/>
          <p:nvPr/>
        </p:nvSpPr>
        <p:spPr>
          <a:xfrm>
            <a:off x="539646" y="5126636"/>
            <a:ext cx="11422505" cy="1354217"/>
          </a:xfrm>
          <a:prstGeom prst="rect">
            <a:avLst/>
          </a:prstGeom>
          <a:noFill/>
        </p:spPr>
        <p:txBody>
          <a:bodyPr wrap="square" rtlCol="0">
            <a:spAutoFit/>
          </a:bodyPr>
          <a:lstStyle/>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This graph illustrates the </a:t>
            </a:r>
            <a:r>
              <a:rPr lang="en-US" sz="1600" b="1" dirty="0">
                <a:latin typeface="Times New Roman" panose="02020603050405020304" pitchFamily="18" charset="0"/>
                <a:cs typeface="Times New Roman" panose="02020603050405020304" pitchFamily="18" charset="0"/>
              </a:rPr>
              <a:t>trajectory and intensity evolution</a:t>
            </a:r>
            <a:r>
              <a:rPr lang="en-US" sz="1600" dirty="0">
                <a:latin typeface="Times New Roman" panose="02020603050405020304" pitchFamily="18" charset="0"/>
                <a:cs typeface="Times New Roman" panose="02020603050405020304" pitchFamily="18" charset="0"/>
              </a:rPr>
              <a:t> of Cyclone Amphan.</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As the cyclone intensified (left to right), wind speed increased while central pressure decrease significantly.</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strong direct correlation between wind speed and pressure drop (ΔP) confirms the empirical </a:t>
            </a:r>
            <a:r>
              <a:rPr lang="en-US" sz="1600" b="1" dirty="0">
                <a:latin typeface="Times New Roman" panose="02020603050405020304" pitchFamily="18" charset="0"/>
                <a:cs typeface="Times New Roman" panose="02020603050405020304" pitchFamily="18" charset="0"/>
              </a:rPr>
              <a:t>pressure–wind relationship</a:t>
            </a:r>
            <a:r>
              <a:rPr lang="en-US" sz="16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These dynamics highlight the critical role of pressure data in estimating cyclone strength and forecasting landfall impacts.</a:t>
            </a:r>
          </a:p>
          <a:p>
            <a:endParaRPr lang="en-IN"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935669A-0E15-B987-3153-4352C6AB74A0}"/>
                  </a:ext>
                </a:extLst>
              </p:cNvPr>
              <p:cNvSpPr txBox="1"/>
              <p:nvPr/>
            </p:nvSpPr>
            <p:spPr>
              <a:xfrm>
                <a:off x="8128856" y="2098623"/>
                <a:ext cx="3713374" cy="1144544"/>
              </a:xfrm>
              <a:prstGeom prst="rect">
                <a:avLst/>
              </a:prstGeom>
              <a:noFill/>
              <a:ln>
                <a:solidFill>
                  <a:schemeClr val="tx1"/>
                </a:solidFill>
              </a:ln>
            </p:spPr>
            <p:txBody>
              <a:bodyPr wrap="square" rtlCol="0">
                <a:spAutoFit/>
              </a:bodyPr>
              <a:lstStyle/>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Windspeed </a:t>
                </a:r>
                <a14:m>
                  <m:oMath xmlns:m="http://schemas.openxmlformats.org/officeDocument/2006/math">
                    <m:r>
                      <a:rPr lang="en-IN" sz="2000" b="1" i="1" smtClean="0">
                        <a:latin typeface="Cambria Math" panose="02040503050406030204" pitchFamily="18" charset="0"/>
                      </a:rPr>
                      <m:t>𝜶</m:t>
                    </m:r>
                    <m:f>
                      <m:fPr>
                        <m:ctrlPr>
                          <a:rPr lang="en-IN" sz="2000" b="1" i="1">
                            <a:solidFill>
                              <a:srgbClr val="836967"/>
                            </a:solidFill>
                            <a:latin typeface="Cambria Math" panose="02040503050406030204" pitchFamily="18" charset="0"/>
                          </a:rPr>
                        </m:ctrlPr>
                      </m:fPr>
                      <m:num>
                        <m:r>
                          <a:rPr lang="en-IN" sz="2000" b="1" i="0">
                            <a:latin typeface="Cambria Math" panose="02040503050406030204" pitchFamily="18" charset="0"/>
                          </a:rPr>
                          <m:t>𝟏</m:t>
                        </m:r>
                      </m:num>
                      <m:den>
                        <m:r>
                          <a:rPr lang="en-US" sz="2000" b="1" i="1" smtClean="0">
                            <a:latin typeface="Cambria Math" panose="02040503050406030204" pitchFamily="18" charset="0"/>
                          </a:rPr>
                          <m:t>𝑪𝒆𝒏𝒕𝒓𝒂𝒍</m:t>
                        </m:r>
                        <m:r>
                          <a:rPr lang="en-US" sz="2000" b="1" i="1" smtClean="0">
                            <a:latin typeface="Cambria Math" panose="02040503050406030204" pitchFamily="18" charset="0"/>
                          </a:rPr>
                          <m:t> </m:t>
                        </m:r>
                        <m:r>
                          <a:rPr lang="en-US" sz="2000" b="1" i="1" smtClean="0">
                            <a:latin typeface="Cambria Math" panose="02040503050406030204" pitchFamily="18" charset="0"/>
                          </a:rPr>
                          <m:t>𝑷𝒓𝒆𝒔𝒔𝒖𝒓𝒆</m:t>
                        </m:r>
                        <m:r>
                          <a:rPr lang="en-US" sz="2000" b="1" i="1" smtClean="0">
                            <a:latin typeface="Cambria Math" panose="02040503050406030204" pitchFamily="18" charset="0"/>
                          </a:rPr>
                          <m:t> </m:t>
                        </m:r>
                      </m:den>
                    </m:f>
                  </m:oMath>
                </a14:m>
                <a:endParaRPr lang="en-US"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sz="2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Wind speed</a:t>
                </a:r>
                <a:r>
                  <a:rPr lang="en-IN" sz="2000" b="1" dirty="0">
                    <a:latin typeface="Times New Roman" panose="02020603050405020304" pitchFamily="18" charset="0"/>
                    <a:cs typeface="Times New Roman" panose="02020603050405020304" pitchFamily="18" charset="0"/>
                  </a:rPr>
                  <a:t> </a:t>
                </a:r>
                <a14:m>
                  <m:oMath xmlns:m="http://schemas.openxmlformats.org/officeDocument/2006/math">
                    <m:r>
                      <a:rPr lang="en-IN" sz="2000" b="1" i="1" smtClean="0">
                        <a:latin typeface="Cambria Math" panose="02040503050406030204" pitchFamily="18" charset="0"/>
                      </a:rPr>
                      <m:t>𝜶</m:t>
                    </m:r>
                  </m:oMath>
                </a14:m>
                <a:r>
                  <a:rPr lang="en-US" sz="2000" b="1" dirty="0">
                    <a:latin typeface="Times New Roman" panose="02020603050405020304" pitchFamily="18" charset="0"/>
                    <a:cs typeface="Times New Roman" panose="02020603050405020304" pitchFamily="18" charset="0"/>
                  </a:rPr>
                  <a:t> pressure drop</a:t>
                </a:r>
                <a:endParaRPr lang="en-IN" sz="2000" b="1" dirty="0">
                  <a:latin typeface="Times New Roman" panose="02020603050405020304" pitchFamily="18" charset="0"/>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B935669A-0E15-B987-3153-4352C6AB74A0}"/>
                  </a:ext>
                </a:extLst>
              </p:cNvPr>
              <p:cNvSpPr txBox="1">
                <a:spLocks noRot="1" noChangeAspect="1" noMove="1" noResize="1" noEditPoints="1" noAdjustHandles="1" noChangeArrowheads="1" noChangeShapeType="1" noTextEdit="1"/>
              </p:cNvSpPr>
              <p:nvPr/>
            </p:nvSpPr>
            <p:spPr>
              <a:xfrm>
                <a:off x="8128856" y="2098623"/>
                <a:ext cx="3713374" cy="1144544"/>
              </a:xfrm>
              <a:prstGeom prst="rect">
                <a:avLst/>
              </a:prstGeom>
              <a:blipFill>
                <a:blip r:embed="rId3"/>
                <a:stretch>
                  <a:fillRect l="-1307" b="-8421"/>
                </a:stretch>
              </a:blipFill>
              <a:ln>
                <a:solidFill>
                  <a:schemeClr val="tx1"/>
                </a:solidFill>
              </a:ln>
            </p:spPr>
            <p:txBody>
              <a:bodyPr/>
              <a:lstStyle/>
              <a:p>
                <a:r>
                  <a:rPr lang="en-IN">
                    <a:noFill/>
                  </a:rPr>
                  <a:t> </a:t>
                </a:r>
              </a:p>
            </p:txBody>
          </p:sp>
        </mc:Fallback>
      </mc:AlternateContent>
    </p:spTree>
    <p:extLst>
      <p:ext uri="{BB962C8B-B14F-4D97-AF65-F5344CB8AC3E}">
        <p14:creationId xmlns:p14="http://schemas.microsoft.com/office/powerpoint/2010/main" val="2474022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8AB99-7F24-B4E4-96A4-A36A69933A96}"/>
              </a:ext>
            </a:extLst>
          </p:cNvPr>
          <p:cNvSpPr>
            <a:spLocks noGrp="1"/>
          </p:cNvSpPr>
          <p:nvPr>
            <p:ph type="ctrTitle"/>
          </p:nvPr>
        </p:nvSpPr>
        <p:spPr>
          <a:xfrm>
            <a:off x="0" y="-112218"/>
            <a:ext cx="9144000" cy="1051211"/>
          </a:xfrm>
        </p:spPr>
        <p:txBody>
          <a:bodyPr>
            <a:normAutofit/>
          </a:bodyPr>
          <a:lstStyle/>
          <a:p>
            <a:pPr algn="l"/>
            <a:r>
              <a:rPr lang="en-US" sz="4800" dirty="0">
                <a:latin typeface="Times New Roman" panose="02020603050405020304" pitchFamily="18" charset="0"/>
                <a:cs typeface="Times New Roman" panose="02020603050405020304" pitchFamily="18" charset="0"/>
              </a:rPr>
              <a:t>Other Plots </a:t>
            </a:r>
            <a:endParaRPr lang="en-IN" sz="4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1C8677D-0363-831D-1D50-94A117F1DA87}"/>
              </a:ext>
            </a:extLst>
          </p:cNvPr>
          <p:cNvPicPr>
            <a:picLocks noChangeAspect="1"/>
          </p:cNvPicPr>
          <p:nvPr/>
        </p:nvPicPr>
        <p:blipFill>
          <a:blip r:embed="rId2"/>
          <a:srcRect t="3584" r="5978"/>
          <a:stretch/>
        </p:blipFill>
        <p:spPr>
          <a:xfrm>
            <a:off x="27430" y="938994"/>
            <a:ext cx="3885003" cy="3018869"/>
          </a:xfrm>
          <a:prstGeom prst="rect">
            <a:avLst/>
          </a:prstGeom>
        </p:spPr>
      </p:pic>
      <p:pic>
        <p:nvPicPr>
          <p:cNvPr id="6" name="Picture 5">
            <a:extLst>
              <a:ext uri="{FF2B5EF4-FFF2-40B4-BE49-F238E27FC236}">
                <a16:creationId xmlns:a16="http://schemas.microsoft.com/office/drawing/2014/main" id="{DC33D08F-D4BD-459C-B7CF-9783AB688CF6}"/>
              </a:ext>
            </a:extLst>
          </p:cNvPr>
          <p:cNvPicPr>
            <a:picLocks noChangeAspect="1"/>
          </p:cNvPicPr>
          <p:nvPr/>
        </p:nvPicPr>
        <p:blipFill>
          <a:blip r:embed="rId3"/>
          <a:stretch>
            <a:fillRect/>
          </a:stretch>
        </p:blipFill>
        <p:spPr>
          <a:xfrm>
            <a:off x="1172874" y="3957864"/>
            <a:ext cx="8688012" cy="2715004"/>
          </a:xfrm>
          <a:prstGeom prst="rect">
            <a:avLst/>
          </a:prstGeom>
        </p:spPr>
      </p:pic>
      <p:pic>
        <p:nvPicPr>
          <p:cNvPr id="8" name="Picture 7">
            <a:extLst>
              <a:ext uri="{FF2B5EF4-FFF2-40B4-BE49-F238E27FC236}">
                <a16:creationId xmlns:a16="http://schemas.microsoft.com/office/drawing/2014/main" id="{A5FDF4D0-31FA-A2A2-D371-D4F80FD4D258}"/>
              </a:ext>
            </a:extLst>
          </p:cNvPr>
          <p:cNvPicPr>
            <a:picLocks noChangeAspect="1"/>
          </p:cNvPicPr>
          <p:nvPr/>
        </p:nvPicPr>
        <p:blipFill>
          <a:blip r:embed="rId4"/>
          <a:stretch>
            <a:fillRect/>
          </a:stretch>
        </p:blipFill>
        <p:spPr>
          <a:xfrm>
            <a:off x="4159436" y="525605"/>
            <a:ext cx="7801119" cy="3432259"/>
          </a:xfrm>
          <a:prstGeom prst="rect">
            <a:avLst/>
          </a:prstGeom>
        </p:spPr>
      </p:pic>
    </p:spTree>
    <p:extLst>
      <p:ext uri="{BB962C8B-B14F-4D97-AF65-F5344CB8AC3E}">
        <p14:creationId xmlns:p14="http://schemas.microsoft.com/office/powerpoint/2010/main" val="1706667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98175E7-A455-61C5-3EE6-10CF4D419355}"/>
              </a:ext>
            </a:extLst>
          </p:cNvPr>
          <p:cNvSpPr>
            <a:spLocks noGrp="1"/>
          </p:cNvSpPr>
          <p:nvPr>
            <p:ph type="ctrTitle"/>
          </p:nvPr>
        </p:nvSpPr>
        <p:spPr>
          <a:xfrm>
            <a:off x="1314824" y="735106"/>
            <a:ext cx="10053763" cy="2928470"/>
          </a:xfrm>
        </p:spPr>
        <p:txBody>
          <a:bodyPr anchor="b">
            <a:normAutofit/>
          </a:bodyPr>
          <a:lstStyle/>
          <a:p>
            <a:pPr algn="l"/>
            <a:r>
              <a:rPr lang="en-US" sz="4800" dirty="0">
                <a:solidFill>
                  <a:srgbClr val="FFFFFF"/>
                </a:solidFill>
                <a:latin typeface="Times New Roman" panose="02020603050405020304" pitchFamily="18" charset="0"/>
                <a:cs typeface="Times New Roman" panose="02020603050405020304" pitchFamily="18" charset="0"/>
              </a:rPr>
              <a:t>Conclusion</a:t>
            </a:r>
            <a:endParaRPr lang="en-IN" sz="4800" dirty="0">
              <a:solidFill>
                <a:srgbClr val="FFFFFF"/>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AC23F46-E230-6C3A-BC77-90E94CAD1AAC}"/>
              </a:ext>
            </a:extLst>
          </p:cNvPr>
          <p:cNvSpPr>
            <a:spLocks noGrp="1"/>
          </p:cNvSpPr>
          <p:nvPr>
            <p:ph type="subTitle" idx="1"/>
          </p:nvPr>
        </p:nvSpPr>
        <p:spPr>
          <a:xfrm>
            <a:off x="-4" y="4398682"/>
            <a:ext cx="12007126" cy="1930400"/>
          </a:xfrm>
        </p:spPr>
        <p:txBody>
          <a:bodyPr anchor="ctr">
            <a:normAutofit/>
          </a:bodyPr>
          <a:lstStyle/>
          <a:p>
            <a:pPr algn="l"/>
            <a:r>
              <a:rPr lang="en-US" dirty="0">
                <a:latin typeface="Times New Roman" panose="02020603050405020304" pitchFamily="18" charset="0"/>
                <a:cs typeface="Times New Roman" panose="02020603050405020304" pitchFamily="18" charset="0"/>
              </a:rPr>
              <a:t>Accurate cyclone wind speed prediction is vital for risk management. Empirical models using pressure–wind relationships, especially those based on pressure drop and gradient wind balance, provide reliable estimates. By learning from historical data and accounting for cyclone structure, these models improve forecasting for future events.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5585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2D3E96-8863-4B77-C730-8336C893226A}"/>
              </a:ext>
            </a:extLst>
          </p:cNvPr>
          <p:cNvSpPr>
            <a:spLocks noGrp="1"/>
          </p:cNvSpPr>
          <p:nvPr>
            <p:ph type="title"/>
          </p:nvPr>
        </p:nvSpPr>
        <p:spPr>
          <a:xfrm>
            <a:off x="838200" y="721398"/>
            <a:ext cx="10515600" cy="1325563"/>
          </a:xfrm>
        </p:spPr>
        <p:txBody>
          <a:bodyPr/>
          <a:lstStyle/>
          <a:p>
            <a:r>
              <a:rPr lang="en-US" dirty="0">
                <a:latin typeface="Times New Roman" panose="02020603050405020304" pitchFamily="18" charset="0"/>
                <a:cs typeface="Times New Roman" panose="02020603050405020304" pitchFamily="18" charset="0"/>
              </a:rPr>
              <a:t>Reference</a:t>
            </a:r>
            <a:endParaRPr lang="en-IN" dirty="0">
              <a:latin typeface="Times New Roman" panose="02020603050405020304" pitchFamily="18" charset="0"/>
              <a:cs typeface="Times New Roman" panose="02020603050405020304" pitchFamily="18" charset="0"/>
            </a:endParaRPr>
          </a:p>
        </p:txBody>
      </p:sp>
      <p:graphicFrame>
        <p:nvGraphicFramePr>
          <p:cNvPr id="5" name="Content Placeholder 2">
            <a:extLst>
              <a:ext uri="{FF2B5EF4-FFF2-40B4-BE49-F238E27FC236}">
                <a16:creationId xmlns:a16="http://schemas.microsoft.com/office/drawing/2014/main" id="{79B28D73-3B66-399D-57B0-FFD38381A8B7}"/>
              </a:ext>
            </a:extLst>
          </p:cNvPr>
          <p:cNvGraphicFramePr>
            <a:graphicFrameLocks noGrp="1"/>
          </p:cNvGraphicFramePr>
          <p:nvPr>
            <p:ph idx="1"/>
            <p:extLst>
              <p:ext uri="{D42A27DB-BD31-4B8C-83A1-F6EECF244321}">
                <p14:modId xmlns:p14="http://schemas.microsoft.com/office/powerpoint/2010/main" val="2671769006"/>
              </p:ext>
            </p:extLst>
          </p:nvPr>
        </p:nvGraphicFramePr>
        <p:xfrm>
          <a:off x="1214325" y="1932984"/>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773623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969</TotalTime>
  <Words>701</Words>
  <Application>Microsoft Office PowerPoint</Application>
  <PresentationFormat>Widescreen</PresentationFormat>
  <Paragraphs>70</Paragraphs>
  <Slides>10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Aptos</vt:lpstr>
      <vt:lpstr>Aptos Display</vt:lpstr>
      <vt:lpstr>Arial</vt:lpstr>
      <vt:lpstr>Calibri</vt:lpstr>
      <vt:lpstr>Cambria Math</vt:lpstr>
      <vt:lpstr>Times New Roman</vt:lpstr>
      <vt:lpstr>Wingdings</vt:lpstr>
      <vt:lpstr>Office Theme</vt:lpstr>
      <vt:lpstr>CYCLONE ANALYSIS OF ODISHA  </vt:lpstr>
      <vt:lpstr>Cyclones in Odisha</vt:lpstr>
      <vt:lpstr>Methodology</vt:lpstr>
      <vt:lpstr>Study Areas</vt:lpstr>
      <vt:lpstr>Cyclone Trend </vt:lpstr>
      <vt:lpstr>Future Cyclone Wind Speed Forecast (2025–2034)</vt:lpstr>
      <vt:lpstr>Wind Speed vs Pressure Dynamics</vt:lpstr>
      <vt:lpstr>Other Plots </vt:lpstr>
      <vt:lpstr>Conclusion</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SRIMAYA MOHAPATRA</dc:creator>
  <cp:lastModifiedBy>SRIMAYA MOHAPATRA</cp:lastModifiedBy>
  <cp:revision>12</cp:revision>
  <dcterms:created xsi:type="dcterms:W3CDTF">2025-04-15T08:41:50Z</dcterms:created>
  <dcterms:modified xsi:type="dcterms:W3CDTF">2025-04-22T10:24:25Z</dcterms:modified>
</cp:coreProperties>
</file>